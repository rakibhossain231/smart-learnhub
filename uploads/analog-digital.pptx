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04" r:id="rId2"/>
    <p:sldId id="257" r:id="rId3"/>
    <p:sldId id="291" r:id="rId4"/>
    <p:sldId id="289" r:id="rId5"/>
    <p:sldId id="292" r:id="rId6"/>
    <p:sldId id="290" r:id="rId7"/>
    <p:sldId id="295" r:id="rId8"/>
    <p:sldId id="293" r:id="rId9"/>
    <p:sldId id="286" r:id="rId10"/>
    <p:sldId id="288" r:id="rId11"/>
    <p:sldId id="258" r:id="rId12"/>
    <p:sldId id="276" r:id="rId13"/>
    <p:sldId id="277" r:id="rId14"/>
    <p:sldId id="278" r:id="rId15"/>
    <p:sldId id="280" r:id="rId16"/>
    <p:sldId id="298" r:id="rId17"/>
    <p:sldId id="281" r:id="rId18"/>
    <p:sldId id="282" r:id="rId19"/>
    <p:sldId id="284" r:id="rId20"/>
    <p:sldId id="270" r:id="rId21"/>
    <p:sldId id="271" r:id="rId22"/>
    <p:sldId id="283" r:id="rId23"/>
    <p:sldId id="269" r:id="rId24"/>
    <p:sldId id="285" r:id="rId25"/>
    <p:sldId id="261" r:id="rId26"/>
    <p:sldId id="262" r:id="rId27"/>
    <p:sldId id="264" r:id="rId28"/>
    <p:sldId id="297" r:id="rId29"/>
    <p:sldId id="266" r:id="rId30"/>
    <p:sldId id="279" r:id="rId31"/>
    <p:sldId id="267" r:id="rId32"/>
    <p:sldId id="275" r:id="rId33"/>
    <p:sldId id="268" r:id="rId34"/>
    <p:sldId id="300" r:id="rId35"/>
    <p:sldId id="296" r:id="rId36"/>
    <p:sldId id="299" r:id="rId37"/>
    <p:sldId id="272" r:id="rId38"/>
    <p:sldId id="260" r:id="rId39"/>
    <p:sldId id="259" r:id="rId40"/>
    <p:sldId id="30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81" autoAdjust="0"/>
    <p:restoredTop sz="95196" autoAdjust="0"/>
  </p:normalViewPr>
  <p:slideViewPr>
    <p:cSldViewPr snapToGrid="0">
      <p:cViewPr varScale="1">
        <p:scale>
          <a:sx n="85" d="100"/>
          <a:sy n="85" d="100"/>
        </p:scale>
        <p:origin x="34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1AA46774-FFC9-45EC-AD5A-8403AA4B73A1}"/>
    <pc:docChg chg="custSel modSld sldOrd">
      <pc:chgData name="Nasif M" userId="5fbe7e48-0d2d-40c8-a740-2b2c66ce6a52" providerId="ADAL" clId="{1AA46774-FFC9-45EC-AD5A-8403AA4B73A1}" dt="2019-07-29T07:13:38.657" v="3" actId="1076"/>
      <pc:docMkLst>
        <pc:docMk/>
      </pc:docMkLst>
      <pc:sldChg chg="delSp modSp ord">
        <pc:chgData name="Nasif M" userId="5fbe7e48-0d2d-40c8-a740-2b2c66ce6a52" providerId="ADAL" clId="{1AA46774-FFC9-45EC-AD5A-8403AA4B73A1}" dt="2019-07-29T07:13:38.657" v="3" actId="1076"/>
        <pc:sldMkLst>
          <pc:docMk/>
          <pc:sldMk cId="2357497397" sldId="260"/>
        </pc:sldMkLst>
        <pc:spChg chg="del">
          <ac:chgData name="Nasif M" userId="5fbe7e48-0d2d-40c8-a740-2b2c66ce6a52" providerId="ADAL" clId="{1AA46774-FFC9-45EC-AD5A-8403AA4B73A1}" dt="2019-07-29T07:13:05.540" v="0" actId="478"/>
          <ac:spMkLst>
            <pc:docMk/>
            <pc:sldMk cId="2357497397" sldId="260"/>
            <ac:spMk id="2" creationId="{00000000-0000-0000-0000-000000000000}"/>
          </ac:spMkLst>
        </pc:spChg>
        <pc:spChg chg="mod">
          <ac:chgData name="Nasif M" userId="5fbe7e48-0d2d-40c8-a740-2b2c66ce6a52" providerId="ADAL" clId="{1AA46774-FFC9-45EC-AD5A-8403AA4B73A1}" dt="2019-07-29T07:13:38.657" v="3" actId="1076"/>
          <ac:spMkLst>
            <pc:docMk/>
            <pc:sldMk cId="2357497397" sldId="260"/>
            <ac:spMk id="6" creationId="{00000000-0000-0000-0000-000000000000}"/>
          </ac:spMkLst>
        </pc:spChg>
        <pc:spChg chg="mod">
          <ac:chgData name="Nasif M" userId="5fbe7e48-0d2d-40c8-a740-2b2c66ce6a52" providerId="ADAL" clId="{1AA46774-FFC9-45EC-AD5A-8403AA4B73A1}" dt="2019-07-29T07:13:31.347" v="2" actId="1076"/>
          <ac:spMkLst>
            <pc:docMk/>
            <pc:sldMk cId="2357497397" sldId="260"/>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C70D2-2DA2-4530-B3F2-7FE12C39BA19}" type="datetimeFigureOut">
              <a:rPr lang="en-US" smtClean="0"/>
              <a:t>5/12/2024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32A2C-8C8F-4181-B482-848006F9E189}" type="slidenum">
              <a:rPr lang="en-US" smtClean="0"/>
              <a:t>‹#›</a:t>
            </a:fld>
            <a:endParaRPr lang="en-US"/>
          </a:p>
        </p:txBody>
      </p:sp>
    </p:spTree>
    <p:extLst>
      <p:ext uri="{BB962C8B-B14F-4D97-AF65-F5344CB8AC3E}">
        <p14:creationId xmlns:p14="http://schemas.microsoft.com/office/powerpoint/2010/main" val="14064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32A2C-8C8F-4181-B482-848006F9E189}" type="slidenum">
              <a:rPr lang="en-US" smtClean="0"/>
              <a:t>2</a:t>
            </a:fld>
            <a:endParaRPr lang="en-US"/>
          </a:p>
        </p:txBody>
      </p:sp>
    </p:spTree>
    <p:extLst>
      <p:ext uri="{BB962C8B-B14F-4D97-AF65-F5344CB8AC3E}">
        <p14:creationId xmlns:p14="http://schemas.microsoft.com/office/powerpoint/2010/main" val="2479955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32A2C-8C8F-4181-B482-848006F9E189}" type="slidenum">
              <a:rPr lang="en-US" smtClean="0"/>
              <a:t>4</a:t>
            </a:fld>
            <a:endParaRPr lang="en-US"/>
          </a:p>
        </p:txBody>
      </p:sp>
    </p:spTree>
    <p:extLst>
      <p:ext uri="{BB962C8B-B14F-4D97-AF65-F5344CB8AC3E}">
        <p14:creationId xmlns:p14="http://schemas.microsoft.com/office/powerpoint/2010/main" val="3784123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32A2C-8C8F-4181-B482-848006F9E189}" type="slidenum">
              <a:rPr lang="en-US" smtClean="0"/>
              <a:t>24</a:t>
            </a:fld>
            <a:endParaRPr lang="en-US"/>
          </a:p>
        </p:txBody>
      </p:sp>
    </p:spTree>
    <p:extLst>
      <p:ext uri="{BB962C8B-B14F-4D97-AF65-F5344CB8AC3E}">
        <p14:creationId xmlns:p14="http://schemas.microsoft.com/office/powerpoint/2010/main" val="2825957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6A45C75-F1F1-4753-85D6-45EA63758885}" type="datetime1">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12732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91B89-7F7F-43E2-88E7-94A3CA3ACF64}" type="datetime1">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47408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C64486-5E11-4889-AE7D-F865D9E36D50}" type="datetime1">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854702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6E125F-F963-461F-81C4-B455352E95D8}" type="datetime1">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3110563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EC8089-E602-4386-B497-F5DD7F73AFA4}" type="datetime1">
              <a:rPr lang="en-US" smtClean="0"/>
              <a:t>5/12/2024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339230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B345134-E1E4-4AE5-B5D9-2C9A3E1CE033}" type="datetime1">
              <a:rPr lang="en-US" smtClean="0"/>
              <a:t>5/12/2024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1028039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346ED-8210-4D78-A3C8-CABAE1C32301}" type="datetime1">
              <a:rPr lang="en-US" smtClean="0"/>
              <a:t>5/12/2024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11383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79EA6B-7F63-40F7-9273-B663B2496FC2}" type="datetime1">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715745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4547BE-0D24-4E12-B0E0-9C657FE298A5}" type="datetime1">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082419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D6DF21-1CDD-472F-B147-CDF59EAF56D3}" type="datetime1">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55811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8D9541-1C85-403E-B8CB-B989B609642D}" type="datetime1">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71E4A-9E9F-42E1-B77A-6A35EBD048CE}" type="slidenum">
              <a:rPr lang="en-US" smtClean="0"/>
              <a:t>‹#›</a:t>
            </a:fld>
            <a:endParaRPr lang="en-US"/>
          </a:p>
        </p:txBody>
      </p:sp>
    </p:spTree>
    <p:extLst>
      <p:ext uri="{BB962C8B-B14F-4D97-AF65-F5344CB8AC3E}">
        <p14:creationId xmlns:p14="http://schemas.microsoft.com/office/powerpoint/2010/main" val="2474845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BA975-7979-41C7-9C3D-BDC0CF5EE861}" type="datetime1">
              <a:rPr lang="en-US" smtClean="0"/>
              <a:t>5/12/2024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71E4A-9E9F-42E1-B77A-6A35EBD048CE}" type="slidenum">
              <a:rPr lang="en-US" smtClean="0"/>
              <a:t>‹#›</a:t>
            </a:fld>
            <a:endParaRPr lang="en-US"/>
          </a:p>
        </p:txBody>
      </p:sp>
    </p:spTree>
    <p:extLst>
      <p:ext uri="{BB962C8B-B14F-4D97-AF65-F5344CB8AC3E}">
        <p14:creationId xmlns:p14="http://schemas.microsoft.com/office/powerpoint/2010/main" val="48483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fqat@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ideo" Target="https://www.youtube.com/embed/PeEGNr5L-hE" TargetMode="Externa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WWmz9giD4ZY" TargetMode="External"/><Relationship Id="rId5" Type="http://schemas.openxmlformats.org/officeDocument/2006/relationships/image" Target="../media/image17.jpeg"/><Relationship Id="rId4" Type="http://schemas.openxmlformats.org/officeDocument/2006/relationships/image" Target="../media/image1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cdn.sparkfun.com/assets/4/e/3/d/7/513bd09dce395f5a0a000000.png" TargetMode="Externa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s://cdn.sparkfun.com/assets/2/4/c/9/6/513bd09ece395fb009000001.png" TargetMode="Externa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video" Target="https://www.youtube.com/embed/vDnR2TKdsho" TargetMode="External"/><Relationship Id="rId4" Type="http://schemas.openxmlformats.org/officeDocument/2006/relationships/image" Target="../media/image2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video" Target="https://www.youtube.com/embed/LddxcLSgf-k"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cdn.sparkfun.com/assets/7/2/a/7/5/511acd39ce395f6746000000.png"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7F8797F-BB93-C788-B006-66A0856B9DE8}"/>
              </a:ext>
            </a:extLst>
          </p:cNvPr>
          <p:cNvSpPr>
            <a:spLocks noGrp="1"/>
          </p:cNvSpPr>
          <p:nvPr>
            <p:ph type="subTitle" idx="4294967295"/>
          </p:nvPr>
        </p:nvSpPr>
        <p:spPr>
          <a:xfrm>
            <a:off x="2228654" y="4114800"/>
            <a:ext cx="4724400" cy="800100"/>
          </a:xfrm>
          <a:prstGeom prst="rect">
            <a:avLst/>
          </a:prstGeom>
        </p:spPr>
        <p:txBody>
          <a:bodyPr>
            <a:normAutofit fontScale="25000" lnSpcReduction="20000"/>
          </a:bodyPr>
          <a:lstStyle/>
          <a:p>
            <a:pPr marL="0" indent="0">
              <a:spcBef>
                <a:spcPts val="71"/>
              </a:spcBef>
              <a:buNone/>
            </a:pPr>
            <a:r>
              <a:rPr lang="en-US" sz="5600" spc="-4" dirty="0">
                <a:latin typeface="Arial"/>
                <a:cs typeface="Arial"/>
              </a:rPr>
              <a:t>Md. Shafqat </a:t>
            </a:r>
            <a:r>
              <a:rPr lang="en-US" sz="5600" spc="-4" dirty="0" err="1">
                <a:latin typeface="Arial"/>
                <a:cs typeface="Arial"/>
              </a:rPr>
              <a:t>Talukder</a:t>
            </a:r>
            <a:r>
              <a:rPr lang="en-US" sz="5600" spc="-4" dirty="0">
                <a:latin typeface="Arial"/>
                <a:cs typeface="Arial"/>
              </a:rPr>
              <a:t> Rakin</a:t>
            </a:r>
            <a:endParaRPr lang="en-US" sz="5600" dirty="0">
              <a:latin typeface="Arial"/>
              <a:cs typeface="Arial"/>
            </a:endParaRPr>
          </a:p>
          <a:p>
            <a:pPr marL="0" marR="3810" indent="0">
              <a:buNone/>
            </a:pPr>
            <a:r>
              <a:rPr lang="en-US" sz="5600" spc="-4" dirty="0">
                <a:latin typeface="Arial"/>
                <a:cs typeface="Arial"/>
              </a:rPr>
              <a:t>Lecturer, Department of CSE,  </a:t>
            </a:r>
          </a:p>
          <a:p>
            <a:pPr marL="0" marR="3810" indent="0">
              <a:buNone/>
            </a:pPr>
            <a:r>
              <a:rPr lang="en-US" sz="5600" spc="-4" dirty="0">
                <a:latin typeface="Arial"/>
                <a:cs typeface="Arial"/>
              </a:rPr>
              <a:t>United International</a:t>
            </a:r>
            <a:r>
              <a:rPr lang="en-US" sz="5600" spc="8" dirty="0">
                <a:latin typeface="Arial"/>
                <a:cs typeface="Arial"/>
              </a:rPr>
              <a:t> </a:t>
            </a:r>
            <a:r>
              <a:rPr lang="en-US" sz="5600" spc="-4" dirty="0">
                <a:latin typeface="Arial"/>
                <a:cs typeface="Arial"/>
              </a:rPr>
              <a:t>University</a:t>
            </a:r>
          </a:p>
          <a:p>
            <a:pPr marL="0" marR="3810" indent="0">
              <a:buNone/>
            </a:pPr>
            <a:r>
              <a:rPr lang="en-US" sz="5600" spc="-4" dirty="0">
                <a:latin typeface="Arial"/>
                <a:cs typeface="Arial"/>
              </a:rPr>
              <a:t>Email id : </a:t>
            </a:r>
            <a:r>
              <a:rPr lang="en-US" sz="5600" spc="-4" dirty="0">
                <a:latin typeface="Arial"/>
                <a:cs typeface="Arial"/>
                <a:hlinkClick r:id="rId2">
                  <a:extLst>
                    <a:ext uri="{A12FA001-AC4F-418D-AE19-62706E023703}">
                      <ahyp:hlinkClr xmlns:ahyp="http://schemas.microsoft.com/office/drawing/2018/hyperlinkcolor" val="tx"/>
                    </a:ext>
                  </a:extLst>
                </a:hlinkClick>
              </a:rPr>
              <a:t>shafqat@cse.uiu.ac.bd</a:t>
            </a:r>
            <a:endParaRPr lang="en-US" sz="5600" dirty="0">
              <a:latin typeface="Arial"/>
              <a:cs typeface="Arial"/>
            </a:endParaRPr>
          </a:p>
          <a:p>
            <a:endParaRPr lang="en-US" dirty="0"/>
          </a:p>
        </p:txBody>
      </p:sp>
      <p:sp>
        <p:nvSpPr>
          <p:cNvPr id="7" name="object 5">
            <a:extLst>
              <a:ext uri="{FF2B5EF4-FFF2-40B4-BE49-F238E27FC236}">
                <a16:creationId xmlns:a16="http://schemas.microsoft.com/office/drawing/2014/main" id="{67C7C251-28BA-B1C1-2698-414C51F280A9}"/>
              </a:ext>
            </a:extLst>
          </p:cNvPr>
          <p:cNvSpPr txBox="1"/>
          <p:nvPr/>
        </p:nvSpPr>
        <p:spPr>
          <a:xfrm>
            <a:off x="6781800" y="4371782"/>
            <a:ext cx="3048000" cy="286136"/>
          </a:xfrm>
          <a:prstGeom prst="rect">
            <a:avLst/>
          </a:prstGeom>
        </p:spPr>
        <p:txBody>
          <a:bodyPr vert="horz" wrap="square" lIns="0" tIns="9049" rIns="0" bIns="0" rtlCol="0">
            <a:spAutoFit/>
          </a:bodyPr>
          <a:lstStyle/>
          <a:p>
            <a:pPr marL="9525">
              <a:spcBef>
                <a:spcPts val="71"/>
              </a:spcBef>
            </a:pPr>
            <a:r>
              <a:rPr spc="-4" dirty="0">
                <a:latin typeface="Arial"/>
                <a:cs typeface="Arial"/>
              </a:rPr>
              <a:t>Courtesy:</a:t>
            </a:r>
            <a:r>
              <a:rPr lang="en-US" spc="-4" dirty="0">
                <a:latin typeface="Arial"/>
                <a:cs typeface="Arial"/>
              </a:rPr>
              <a:t> </a:t>
            </a:r>
            <a:r>
              <a:rPr lang="en-US" spc="-4" dirty="0" err="1">
                <a:latin typeface="Arial"/>
                <a:cs typeface="Arial"/>
              </a:rPr>
              <a:t>Nasif</a:t>
            </a:r>
            <a:r>
              <a:rPr lang="en-US" spc="-4" dirty="0">
                <a:latin typeface="Arial"/>
                <a:cs typeface="Arial"/>
              </a:rPr>
              <a:t> M. Sir</a:t>
            </a:r>
            <a:r>
              <a:rPr spc="-4" dirty="0">
                <a:latin typeface="Arial"/>
                <a:cs typeface="Arial"/>
              </a:rPr>
              <a:t> </a:t>
            </a:r>
            <a:endParaRPr dirty="0">
              <a:latin typeface="Arial"/>
              <a:cs typeface="Arial"/>
            </a:endParaRPr>
          </a:p>
        </p:txBody>
      </p:sp>
      <p:sp>
        <p:nvSpPr>
          <p:cNvPr id="6" name="Title 1">
            <a:extLst>
              <a:ext uri="{FF2B5EF4-FFF2-40B4-BE49-F238E27FC236}">
                <a16:creationId xmlns:a16="http://schemas.microsoft.com/office/drawing/2014/main" id="{532E74E2-8019-4597-71A9-101243F28360}"/>
              </a:ext>
            </a:extLst>
          </p:cNvPr>
          <p:cNvSpPr txBox="1">
            <a:spLocks/>
          </p:cNvSpPr>
          <p:nvPr/>
        </p:nvSpPr>
        <p:spPr>
          <a:xfrm>
            <a:off x="2667000" y="1490592"/>
            <a:ext cx="6858000" cy="1790700"/>
          </a:xfrm>
          <a:prstGeom prst="rect">
            <a:avLst/>
          </a:prstGeom>
        </p:spPr>
        <p:txBody>
          <a:bodyPr vert="horz" lIns="68580" tIns="34290" rIns="68580" bIns="3429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Analog to digital</a:t>
            </a:r>
            <a:br>
              <a:rPr lang="en-US" sz="4400" dirty="0"/>
            </a:br>
            <a:r>
              <a:rPr lang="en-US" sz="4400" dirty="0"/>
              <a:t>&amp;</a:t>
            </a:r>
            <a:br>
              <a:rPr lang="en-US" sz="4400" dirty="0"/>
            </a:br>
            <a:r>
              <a:rPr lang="en-US" sz="4400" dirty="0"/>
              <a:t>Digital to analog</a:t>
            </a:r>
            <a:br>
              <a:rPr lang="en-US" sz="4400" dirty="0"/>
            </a:br>
            <a:r>
              <a:rPr lang="en-US" sz="4400" dirty="0"/>
              <a:t>Conversion</a:t>
            </a:r>
            <a:endParaRPr lang="en-US" sz="4500" dirty="0"/>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909" y="167445"/>
            <a:ext cx="11177517" cy="910728"/>
          </a:xfrm>
        </p:spPr>
        <p:txBody>
          <a:bodyPr/>
          <a:lstStyle/>
          <a:p>
            <a:r>
              <a:rPr lang="en-US" dirty="0">
                <a:solidFill>
                  <a:srgbClr val="0000FF"/>
                </a:solidFill>
              </a:rPr>
              <a:t>How to interface sensor with Microcontroller</a:t>
            </a:r>
          </a:p>
        </p:txBody>
      </p:sp>
      <p:sp>
        <p:nvSpPr>
          <p:cNvPr id="3" name="Content Placeholder 2"/>
          <p:cNvSpPr>
            <a:spLocks noGrp="1"/>
          </p:cNvSpPr>
          <p:nvPr>
            <p:ph idx="1"/>
          </p:nvPr>
        </p:nvSpPr>
        <p:spPr>
          <a:xfrm>
            <a:off x="245659" y="1078173"/>
            <a:ext cx="11600598" cy="4351338"/>
          </a:xfrm>
        </p:spPr>
        <p:txBody>
          <a:bodyPr>
            <a:normAutofit/>
          </a:bodyPr>
          <a:lstStyle/>
          <a:p>
            <a:r>
              <a:rPr lang="en-US" sz="3200" dirty="0"/>
              <a:t>A </a:t>
            </a:r>
            <a:r>
              <a:rPr lang="en-US" sz="3200" dirty="0">
                <a:solidFill>
                  <a:srgbClr val="C00000"/>
                </a:solidFill>
              </a:rPr>
              <a:t>sensor </a:t>
            </a:r>
            <a:r>
              <a:rPr lang="en-US" sz="3200" dirty="0"/>
              <a:t>is an object whose purpose is to detect events or changes in its environment, and then provide a corresponding output.</a:t>
            </a:r>
          </a:p>
          <a:p>
            <a:r>
              <a:rPr lang="en-US" sz="3200" dirty="0"/>
              <a:t>Many </a:t>
            </a:r>
            <a:r>
              <a:rPr lang="en-US" sz="3200" dirty="0">
                <a:solidFill>
                  <a:srgbClr val="C00000"/>
                </a:solidFill>
              </a:rPr>
              <a:t>sensors</a:t>
            </a:r>
            <a:r>
              <a:rPr lang="en-US" sz="3200" dirty="0"/>
              <a:t> in the real world are simple resistive devices. A photocell is a variable resistor, which produces a </a:t>
            </a:r>
            <a:r>
              <a:rPr lang="en-US" sz="3200" dirty="0">
                <a:solidFill>
                  <a:srgbClr val="C00000"/>
                </a:solidFill>
              </a:rPr>
              <a:t>resistance proportional to the amount of light</a:t>
            </a:r>
            <a:r>
              <a:rPr lang="en-US" sz="3200" dirty="0"/>
              <a:t> it senses. Other devices like flex sensors, force-sensitive resistors</a:t>
            </a:r>
            <a:r>
              <a:rPr lang="en-US" sz="3200"/>
              <a:t>, and thermistors</a:t>
            </a:r>
            <a:r>
              <a:rPr lang="en-US" sz="3200" dirty="0"/>
              <a:t>, are also variable resistors.</a:t>
            </a:r>
          </a:p>
        </p:txBody>
      </p:sp>
      <p:sp>
        <p:nvSpPr>
          <p:cNvPr id="5" name="Slide Number Placeholder 4"/>
          <p:cNvSpPr>
            <a:spLocks noGrp="1"/>
          </p:cNvSpPr>
          <p:nvPr>
            <p:ph type="sldNum" sz="quarter" idx="12"/>
          </p:nvPr>
        </p:nvSpPr>
        <p:spPr/>
        <p:txBody>
          <a:bodyPr/>
          <a:lstStyle/>
          <a:p>
            <a:fld id="{EDC71E4A-9E9F-42E1-B77A-6A35EBD048CE}" type="slidenum">
              <a:rPr lang="en-US" smtClean="0"/>
              <a:t>2</a:t>
            </a:fld>
            <a:endParaRPr lang="en-US"/>
          </a:p>
        </p:txBody>
      </p:sp>
    </p:spTree>
    <p:extLst>
      <p:ext uri="{BB962C8B-B14F-4D97-AF65-F5344CB8AC3E}">
        <p14:creationId xmlns:p14="http://schemas.microsoft.com/office/powerpoint/2010/main" val="2785578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671" y="365126"/>
            <a:ext cx="11354937" cy="740344"/>
          </a:xfrm>
        </p:spPr>
        <p:txBody>
          <a:bodyPr/>
          <a:lstStyle/>
          <a:p>
            <a:r>
              <a:rPr lang="en-US" dirty="0"/>
              <a:t>Types of Sensors</a:t>
            </a:r>
          </a:p>
        </p:txBody>
      </p:sp>
      <p:sp>
        <p:nvSpPr>
          <p:cNvPr id="3" name="Content Placeholder 2"/>
          <p:cNvSpPr>
            <a:spLocks noGrp="1"/>
          </p:cNvSpPr>
          <p:nvPr>
            <p:ph idx="1"/>
          </p:nvPr>
        </p:nvSpPr>
        <p:spPr>
          <a:xfrm>
            <a:off x="477671" y="1105470"/>
            <a:ext cx="11354937" cy="5071493"/>
          </a:xfrm>
        </p:spPr>
        <p:txBody>
          <a:bodyPr>
            <a:normAutofit/>
          </a:bodyPr>
          <a:lstStyle/>
          <a:p>
            <a:r>
              <a:rPr lang="en-US" sz="3200" dirty="0"/>
              <a:t>Analog sensor</a:t>
            </a:r>
          </a:p>
          <a:p>
            <a:r>
              <a:rPr lang="en-US" sz="3200" dirty="0"/>
              <a:t>Digital sensor</a:t>
            </a:r>
          </a:p>
        </p:txBody>
      </p:sp>
      <p:sp>
        <p:nvSpPr>
          <p:cNvPr id="4" name="Slide Number Placeholder 3"/>
          <p:cNvSpPr>
            <a:spLocks noGrp="1"/>
          </p:cNvSpPr>
          <p:nvPr>
            <p:ph type="sldNum" sz="quarter" idx="12"/>
          </p:nvPr>
        </p:nvSpPr>
        <p:spPr/>
        <p:txBody>
          <a:bodyPr/>
          <a:lstStyle/>
          <a:p>
            <a:fld id="{EDC71E4A-9E9F-42E1-B77A-6A35EBD048CE}" type="slidenum">
              <a:rPr lang="en-US" smtClean="0"/>
              <a:t>3</a:t>
            </a:fld>
            <a:endParaRPr lang="en-US"/>
          </a:p>
        </p:txBody>
      </p:sp>
    </p:spTree>
    <p:extLst>
      <p:ext uri="{BB962C8B-B14F-4D97-AF65-F5344CB8AC3E}">
        <p14:creationId xmlns:p14="http://schemas.microsoft.com/office/powerpoint/2010/main" val="2904732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Analog Sensors</a:t>
            </a:r>
          </a:p>
        </p:txBody>
      </p:sp>
      <p:sp>
        <p:nvSpPr>
          <p:cNvPr id="3" name="Content Placeholder 2"/>
          <p:cNvSpPr>
            <a:spLocks noGrp="1"/>
          </p:cNvSpPr>
          <p:nvPr>
            <p:ph idx="1"/>
          </p:nvPr>
        </p:nvSpPr>
        <p:spPr>
          <a:xfrm>
            <a:off x="469710" y="1050878"/>
            <a:ext cx="11281011" cy="4351338"/>
          </a:xfrm>
        </p:spPr>
        <p:txBody>
          <a:bodyPr>
            <a:normAutofit/>
          </a:bodyPr>
          <a:lstStyle/>
          <a:p>
            <a:pPr marL="0" indent="0">
              <a:buNone/>
            </a:pPr>
            <a:r>
              <a:rPr lang="en-US" sz="3200" dirty="0"/>
              <a:t>There are different types of sensors that produce continuous analog output signal and these sensors are considered as analog sensors. Practical examples of various types of analog sensors are as follows: accelerometers, pressure sensors, light sensors, sound sensors, temperature sensors, and so on.</a:t>
            </a:r>
          </a:p>
        </p:txBody>
      </p:sp>
      <p:sp>
        <p:nvSpPr>
          <p:cNvPr id="4" name="Slide Number Placeholder 3"/>
          <p:cNvSpPr>
            <a:spLocks noGrp="1"/>
          </p:cNvSpPr>
          <p:nvPr>
            <p:ph type="sldNum" sz="quarter" idx="12"/>
          </p:nvPr>
        </p:nvSpPr>
        <p:spPr/>
        <p:txBody>
          <a:bodyPr/>
          <a:lstStyle/>
          <a:p>
            <a:fld id="{EDC71E4A-9E9F-42E1-B77A-6A35EBD048CE}" type="slidenum">
              <a:rPr lang="en-US" smtClean="0"/>
              <a:t>4</a:t>
            </a:fld>
            <a:endParaRPr lang="en-US"/>
          </a:p>
        </p:txBody>
      </p:sp>
      <p:pic>
        <p:nvPicPr>
          <p:cNvPr id="9" name="Picture 2" descr="http://p.globalsources.com/IMAGES/PDT/B1070516810/Thermisto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80" y="3558558"/>
            <a:ext cx="2207572" cy="220757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286604" y="5422640"/>
            <a:ext cx="2088106" cy="1200329"/>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Thermistor (temperature sensor)</a:t>
            </a:r>
          </a:p>
        </p:txBody>
      </p:sp>
      <p:pic>
        <p:nvPicPr>
          <p:cNvPr id="1028" name="Picture 4" descr="https://www.elprocus.com/wp-content/uploads/2014/10/ldr-analog-senso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748" y="3931316"/>
            <a:ext cx="2833285" cy="170324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141224" y="5422640"/>
            <a:ext cx="1937982" cy="1200329"/>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a:p>
            <a:r>
              <a:rPr lang="en-US" sz="2400" b="1" dirty="0">
                <a:solidFill>
                  <a:srgbClr val="C00000"/>
                </a:solidFill>
                <a:latin typeface="Arial" panose="020B0604020202020204" pitchFamily="34" charset="0"/>
                <a:cs typeface="Arial" panose="020B0604020202020204" pitchFamily="34" charset="0"/>
              </a:rPr>
              <a:t>(Light sensor)</a:t>
            </a:r>
          </a:p>
        </p:txBody>
      </p:sp>
      <p:pic>
        <p:nvPicPr>
          <p:cNvPr id="1030" name="Picture 6" descr="https://cdn.sparkfun.com/assets/parts/4/6/2/6/10264-0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65117" y="3547226"/>
            <a:ext cx="2471429" cy="24714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9013209" y="5402216"/>
            <a:ext cx="1937982" cy="830997"/>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Flexibility sensor</a:t>
            </a:r>
          </a:p>
        </p:txBody>
      </p:sp>
    </p:spTree>
    <p:extLst>
      <p:ext uri="{BB962C8B-B14F-4D97-AF65-F5344CB8AC3E}">
        <p14:creationId xmlns:p14="http://schemas.microsoft.com/office/powerpoint/2010/main" val="1109184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Analog Sensors</a:t>
            </a:r>
          </a:p>
        </p:txBody>
      </p:sp>
      <p:sp>
        <p:nvSpPr>
          <p:cNvPr id="3" name="Content Placeholder 2"/>
          <p:cNvSpPr>
            <a:spLocks noGrp="1"/>
          </p:cNvSpPr>
          <p:nvPr>
            <p:ph idx="1"/>
          </p:nvPr>
        </p:nvSpPr>
        <p:spPr>
          <a:xfrm>
            <a:off x="469710" y="1050878"/>
            <a:ext cx="11281011" cy="4351338"/>
          </a:xfrm>
        </p:spPr>
        <p:txBody>
          <a:bodyPr>
            <a:normAutofit/>
          </a:bodyPr>
          <a:lstStyle/>
          <a:p>
            <a:pPr>
              <a:buFont typeface="Wingdings" panose="05000000000000000000" pitchFamily="2" charset="2"/>
              <a:buChar char="§"/>
            </a:pPr>
            <a:r>
              <a:rPr lang="en-US" sz="3600" dirty="0"/>
              <a:t>Pros</a:t>
            </a:r>
          </a:p>
          <a:p>
            <a:pPr lvl="1"/>
            <a:r>
              <a:rPr lang="en-US" sz="3200" dirty="0"/>
              <a:t>Usually simple sensor design</a:t>
            </a:r>
          </a:p>
          <a:p>
            <a:pPr>
              <a:buFont typeface="Wingdings" panose="05000000000000000000" pitchFamily="2" charset="2"/>
              <a:buChar char="§"/>
            </a:pPr>
            <a:r>
              <a:rPr lang="en-US" sz="3600" dirty="0"/>
              <a:t>Cons</a:t>
            </a:r>
          </a:p>
          <a:p>
            <a:pPr lvl="1"/>
            <a:r>
              <a:rPr lang="en-US" sz="3200" dirty="0"/>
              <a:t>Analog signal produced by the analog sensor could be distorted during long distance transmission.</a:t>
            </a:r>
          </a:p>
        </p:txBody>
      </p:sp>
      <p:sp>
        <p:nvSpPr>
          <p:cNvPr id="4" name="Slide Number Placeholder 3"/>
          <p:cNvSpPr>
            <a:spLocks noGrp="1"/>
          </p:cNvSpPr>
          <p:nvPr>
            <p:ph type="sldNum" sz="quarter" idx="12"/>
          </p:nvPr>
        </p:nvSpPr>
        <p:spPr/>
        <p:txBody>
          <a:bodyPr/>
          <a:lstStyle/>
          <a:p>
            <a:fld id="{EDC71E4A-9E9F-42E1-B77A-6A35EBD048CE}" type="slidenum">
              <a:rPr lang="en-US" smtClean="0"/>
              <a:t>5</a:t>
            </a:fld>
            <a:endParaRPr lang="en-US"/>
          </a:p>
        </p:txBody>
      </p:sp>
    </p:spTree>
    <p:extLst>
      <p:ext uri="{BB962C8B-B14F-4D97-AF65-F5344CB8AC3E}">
        <p14:creationId xmlns:p14="http://schemas.microsoft.com/office/powerpoint/2010/main" val="75704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Digital Sensors</a:t>
            </a:r>
          </a:p>
        </p:txBody>
      </p:sp>
      <p:sp>
        <p:nvSpPr>
          <p:cNvPr id="3" name="Content Placeholder 2"/>
          <p:cNvSpPr>
            <a:spLocks noGrp="1"/>
          </p:cNvSpPr>
          <p:nvPr>
            <p:ph idx="1"/>
          </p:nvPr>
        </p:nvSpPr>
        <p:spPr>
          <a:xfrm>
            <a:off x="469710" y="1050878"/>
            <a:ext cx="11281011" cy="4351338"/>
          </a:xfrm>
        </p:spPr>
        <p:txBody>
          <a:bodyPr>
            <a:noAutofit/>
          </a:bodyPr>
          <a:lstStyle/>
          <a:p>
            <a:pPr marL="0" indent="0">
              <a:buNone/>
            </a:pPr>
            <a:r>
              <a:rPr lang="en-US" sz="3200" dirty="0"/>
              <a:t>Electronic sensors or electrochemical sensors in which data conversion and data transmission takes place digitally are called as digital sensors. These digital sensors are replacing analog sensors as they are capable of overcoming the drawbacks of analog sensors. The digital sensor consists of majorly three components: senor, cable, and transmitter. In digital sensors, the signal measured is directly converted into digital signal output inside the digital sensor itself then this digital signal is transmitted through cable digitally. </a:t>
            </a:r>
          </a:p>
        </p:txBody>
      </p:sp>
      <p:sp>
        <p:nvSpPr>
          <p:cNvPr id="4" name="Slide Number Placeholder 3"/>
          <p:cNvSpPr>
            <a:spLocks noGrp="1"/>
          </p:cNvSpPr>
          <p:nvPr>
            <p:ph type="sldNum" sz="quarter" idx="12"/>
          </p:nvPr>
        </p:nvSpPr>
        <p:spPr/>
        <p:txBody>
          <a:bodyPr/>
          <a:lstStyle/>
          <a:p>
            <a:fld id="{EDC71E4A-9E9F-42E1-B77A-6A35EBD048CE}" type="slidenum">
              <a:rPr lang="en-US" smtClean="0"/>
              <a:t>6</a:t>
            </a:fld>
            <a:endParaRPr lang="en-US"/>
          </a:p>
        </p:txBody>
      </p:sp>
    </p:spTree>
    <p:extLst>
      <p:ext uri="{BB962C8B-B14F-4D97-AF65-F5344CB8AC3E}">
        <p14:creationId xmlns:p14="http://schemas.microsoft.com/office/powerpoint/2010/main" val="3106402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7</a:t>
            </a:fld>
            <a:endParaRPr lang="en-US"/>
          </a:p>
        </p:txBody>
      </p:sp>
      <p:pic>
        <p:nvPicPr>
          <p:cNvPr id="3076" name="Picture 4" descr="http://www.circuitstoday.com/wp-content/uploads/2016/02/PIR_Sensor_Pin_Ou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068" y="365125"/>
            <a:ext cx="4887959" cy="488795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1.bp.blogspot.com/-dc78WX5EB0Y/UgnTePvjBrI/AAAAAAAAAtA/I9XItMAPYww/s1600/parallax-ping-ultrasonic-sensor-lar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068" y="456892"/>
            <a:ext cx="5257800" cy="3314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978927" y="4985911"/>
            <a:ext cx="3261814" cy="830997"/>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PIR sensor – Motion detector sensor</a:t>
            </a:r>
          </a:p>
        </p:txBody>
      </p:sp>
      <p:sp>
        <p:nvSpPr>
          <p:cNvPr id="9" name="TextBox 8"/>
          <p:cNvSpPr txBox="1"/>
          <p:nvPr/>
        </p:nvSpPr>
        <p:spPr>
          <a:xfrm>
            <a:off x="7494897" y="3771592"/>
            <a:ext cx="3261814"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Ultrasonic sensor</a:t>
            </a:r>
          </a:p>
        </p:txBody>
      </p:sp>
    </p:spTree>
    <p:extLst>
      <p:ext uri="{BB962C8B-B14F-4D97-AF65-F5344CB8AC3E}">
        <p14:creationId xmlns:p14="http://schemas.microsoft.com/office/powerpoint/2010/main" val="1429308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0" y="365125"/>
            <a:ext cx="10515600" cy="685753"/>
          </a:xfrm>
        </p:spPr>
        <p:txBody>
          <a:bodyPr>
            <a:normAutofit fontScale="90000"/>
          </a:bodyPr>
          <a:lstStyle/>
          <a:p>
            <a:r>
              <a:rPr lang="en-US" dirty="0"/>
              <a:t>Digital Sensors</a:t>
            </a:r>
          </a:p>
        </p:txBody>
      </p:sp>
      <p:sp>
        <p:nvSpPr>
          <p:cNvPr id="3" name="Content Placeholder 2"/>
          <p:cNvSpPr>
            <a:spLocks noGrp="1"/>
          </p:cNvSpPr>
          <p:nvPr>
            <p:ph idx="1"/>
          </p:nvPr>
        </p:nvSpPr>
        <p:spPr>
          <a:xfrm>
            <a:off x="469710" y="1050878"/>
            <a:ext cx="11281011" cy="4351338"/>
          </a:xfrm>
        </p:spPr>
        <p:txBody>
          <a:bodyPr>
            <a:normAutofit/>
          </a:bodyPr>
          <a:lstStyle/>
          <a:p>
            <a:pPr>
              <a:buFont typeface="Wingdings" panose="05000000000000000000" pitchFamily="2" charset="2"/>
              <a:buChar char="§"/>
            </a:pPr>
            <a:r>
              <a:rPr lang="en-US" sz="3600" dirty="0"/>
              <a:t>Pros</a:t>
            </a:r>
          </a:p>
          <a:p>
            <a:pPr lvl="1"/>
            <a:r>
              <a:rPr lang="en-US" sz="3200" dirty="0"/>
              <a:t>Digital signal produced by the digital sensor could be transmitted long distance.</a:t>
            </a:r>
          </a:p>
          <a:p>
            <a:pPr>
              <a:buFont typeface="Wingdings" panose="05000000000000000000" pitchFamily="2" charset="2"/>
              <a:buChar char="§"/>
            </a:pPr>
            <a:r>
              <a:rPr lang="en-US" sz="3600" dirty="0"/>
              <a:t>Cons</a:t>
            </a:r>
          </a:p>
          <a:p>
            <a:pPr lvl="1"/>
            <a:r>
              <a:rPr lang="en-US" sz="3200" dirty="0"/>
              <a:t>Usually complex sensor design.</a:t>
            </a:r>
          </a:p>
        </p:txBody>
      </p:sp>
      <p:sp>
        <p:nvSpPr>
          <p:cNvPr id="4" name="Slide Number Placeholder 3"/>
          <p:cNvSpPr>
            <a:spLocks noGrp="1"/>
          </p:cNvSpPr>
          <p:nvPr>
            <p:ph type="sldNum" sz="quarter" idx="12"/>
          </p:nvPr>
        </p:nvSpPr>
        <p:spPr/>
        <p:txBody>
          <a:bodyPr/>
          <a:lstStyle/>
          <a:p>
            <a:fld id="{EDC71E4A-9E9F-42E1-B77A-6A35EBD048CE}" type="slidenum">
              <a:rPr lang="en-US" smtClean="0"/>
              <a:t>8</a:t>
            </a:fld>
            <a:endParaRPr lang="en-US"/>
          </a:p>
        </p:txBody>
      </p:sp>
    </p:spTree>
    <p:extLst>
      <p:ext uri="{BB962C8B-B14F-4D97-AF65-F5344CB8AC3E}">
        <p14:creationId xmlns:p14="http://schemas.microsoft.com/office/powerpoint/2010/main" val="4099401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22" y="283239"/>
            <a:ext cx="11163869" cy="846348"/>
          </a:xfrm>
        </p:spPr>
        <p:txBody>
          <a:bodyPr>
            <a:normAutofit/>
          </a:bodyPr>
          <a:lstStyle/>
          <a:p>
            <a:r>
              <a:rPr lang="en-US" dirty="0"/>
              <a:t>LDR</a:t>
            </a:r>
          </a:p>
        </p:txBody>
      </p:sp>
      <p:sp>
        <p:nvSpPr>
          <p:cNvPr id="3" name="Content Placeholder 2"/>
          <p:cNvSpPr>
            <a:spLocks noGrp="1"/>
          </p:cNvSpPr>
          <p:nvPr>
            <p:ph idx="1"/>
          </p:nvPr>
        </p:nvSpPr>
        <p:spPr>
          <a:xfrm>
            <a:off x="464022" y="1129588"/>
            <a:ext cx="11259403" cy="5226761"/>
          </a:xfrm>
        </p:spPr>
        <p:txBody>
          <a:bodyPr/>
          <a:lstStyle/>
          <a:p>
            <a:r>
              <a:rPr lang="en-US" dirty="0">
                <a:solidFill>
                  <a:srgbClr val="0000FF"/>
                </a:solidFill>
              </a:rPr>
              <a:t>Light dependent resistor (LDR) </a:t>
            </a:r>
            <a:r>
              <a:rPr lang="en-US" dirty="0"/>
              <a:t>is used to detect change in light intensity or as a light sensor. LDR is basically a variable resistor. </a:t>
            </a:r>
          </a:p>
          <a:p>
            <a:endParaRPr lang="en-US" dirty="0"/>
          </a:p>
          <a:p>
            <a:r>
              <a:rPr lang="en-US" dirty="0">
                <a:solidFill>
                  <a:srgbClr val="C00000"/>
                </a:solidFill>
              </a:rPr>
              <a:t>LDR resistance changes with the change in intensity of light</a:t>
            </a:r>
            <a:r>
              <a:rPr lang="en-US" dirty="0"/>
              <a:t>. If intensity of light falling on LDR is high, LDR will have low resistance. </a:t>
            </a:r>
          </a:p>
          <a:p>
            <a:endParaRPr lang="en-US" dirty="0"/>
          </a:p>
          <a:p>
            <a:r>
              <a:rPr lang="en-US" dirty="0">
                <a:solidFill>
                  <a:srgbClr val="C00000"/>
                </a:solidFill>
              </a:rPr>
              <a:t>When intensity of light decreases, LDR offer high resistance</a:t>
            </a:r>
            <a:r>
              <a:rPr lang="en-US" dirty="0"/>
              <a:t>. Hence there is a inverse relationship between intensity of light and resistance of LDR.</a:t>
            </a:r>
          </a:p>
          <a:p>
            <a:endParaRPr lang="en-US" dirty="0"/>
          </a:p>
          <a:p>
            <a:r>
              <a:rPr lang="en-US" dirty="0"/>
              <a:t>The LDR is a resistor, and its resistance varies according to the amount of light falling on its surface. </a:t>
            </a:r>
          </a:p>
          <a:p>
            <a:endParaRPr lang="en-US" dirty="0"/>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9</a:t>
            </a:fld>
            <a:endParaRPr lang="en-US"/>
          </a:p>
        </p:txBody>
      </p:sp>
    </p:spTree>
    <p:extLst>
      <p:ext uri="{BB962C8B-B14F-4D97-AF65-F5344CB8AC3E}">
        <p14:creationId xmlns:p14="http://schemas.microsoft.com/office/powerpoint/2010/main" val="1441546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762" y="1129587"/>
            <a:ext cx="11280608" cy="4351338"/>
          </a:xfrm>
        </p:spPr>
        <p:txBody>
          <a:bodyPr/>
          <a:lstStyle/>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10</a:t>
            </a:fld>
            <a:endParaRPr 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054" y="1245843"/>
            <a:ext cx="8313523" cy="411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1"/>
          <p:cNvSpPr>
            <a:spLocks noGrp="1"/>
          </p:cNvSpPr>
          <p:nvPr>
            <p:ph type="title"/>
          </p:nvPr>
        </p:nvSpPr>
        <p:spPr>
          <a:xfrm>
            <a:off x="483762" y="283239"/>
            <a:ext cx="11144129" cy="846348"/>
          </a:xfrm>
        </p:spPr>
        <p:txBody>
          <a:bodyPr>
            <a:normAutofit/>
          </a:bodyPr>
          <a:lstStyle/>
          <a:p>
            <a:r>
              <a:rPr lang="en-US" dirty="0"/>
              <a:t>LDR</a:t>
            </a:r>
          </a:p>
        </p:txBody>
      </p:sp>
      <p:sp>
        <p:nvSpPr>
          <p:cNvPr id="7" name="TextBox 6"/>
          <p:cNvSpPr txBox="1"/>
          <p:nvPr/>
        </p:nvSpPr>
        <p:spPr>
          <a:xfrm>
            <a:off x="3275462" y="4846556"/>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p:txBody>
      </p:sp>
    </p:spTree>
    <p:extLst>
      <p:ext uri="{BB962C8B-B14F-4D97-AF65-F5344CB8AC3E}">
        <p14:creationId xmlns:p14="http://schemas.microsoft.com/office/powerpoint/2010/main" val="417783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44"/>
            <a:ext cx="10515600" cy="699400"/>
          </a:xfrm>
        </p:spPr>
        <p:txBody>
          <a:bodyPr/>
          <a:lstStyle/>
          <a:p>
            <a:r>
              <a:rPr lang="en-US" dirty="0">
                <a:solidFill>
                  <a:srgbClr val="0000FF"/>
                </a:solidFill>
              </a:rPr>
              <a:t>Variable Resistor R2 value change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67233530"/>
              </p:ext>
            </p:extLst>
          </p:nvPr>
        </p:nvGraphicFramePr>
        <p:xfrm>
          <a:off x="6096000" y="1703638"/>
          <a:ext cx="5588076" cy="2311136"/>
        </p:xfrm>
        <a:graphic>
          <a:graphicData uri="http://schemas.openxmlformats.org/drawingml/2006/table">
            <a:tbl>
              <a:tblPr firstRow="1" firstCol="1" bandRow="1">
                <a:tableStyleId>{21E4AEA4-8DFA-4A89-87EB-49C32662AFE0}</a:tableStyleId>
              </a:tblPr>
              <a:tblGrid>
                <a:gridCol w="1397019">
                  <a:extLst>
                    <a:ext uri="{9D8B030D-6E8A-4147-A177-3AD203B41FA5}">
                      <a16:colId xmlns:a16="http://schemas.microsoft.com/office/drawing/2014/main" val="20000"/>
                    </a:ext>
                  </a:extLst>
                </a:gridCol>
                <a:gridCol w="1397019">
                  <a:extLst>
                    <a:ext uri="{9D8B030D-6E8A-4147-A177-3AD203B41FA5}">
                      <a16:colId xmlns:a16="http://schemas.microsoft.com/office/drawing/2014/main" val="20001"/>
                    </a:ext>
                  </a:extLst>
                </a:gridCol>
                <a:gridCol w="1397019">
                  <a:extLst>
                    <a:ext uri="{9D8B030D-6E8A-4147-A177-3AD203B41FA5}">
                      <a16:colId xmlns:a16="http://schemas.microsoft.com/office/drawing/2014/main" val="20002"/>
                    </a:ext>
                  </a:extLst>
                </a:gridCol>
                <a:gridCol w="1397019">
                  <a:extLst>
                    <a:ext uri="{9D8B030D-6E8A-4147-A177-3AD203B41FA5}">
                      <a16:colId xmlns:a16="http://schemas.microsoft.com/office/drawing/2014/main" val="20003"/>
                    </a:ext>
                  </a:extLst>
                </a:gridCol>
              </a:tblGrid>
              <a:tr h="941498">
                <a:tc>
                  <a:txBody>
                    <a:bodyPr/>
                    <a:lstStyle/>
                    <a:p>
                      <a:pPr marL="0" marR="0" algn="ctr">
                        <a:lnSpc>
                          <a:spcPct val="115000"/>
                        </a:lnSpc>
                        <a:spcBef>
                          <a:spcPts val="0"/>
                        </a:spcBef>
                        <a:spcAft>
                          <a:spcPts val="0"/>
                        </a:spcAft>
                      </a:pPr>
                      <a:r>
                        <a:rPr lang="en-GB" sz="2400" dirty="0">
                          <a:effectLst/>
                        </a:rPr>
                        <a:t>Light Level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a:effectLst/>
                        </a:rPr>
                        <a:t>R</a:t>
                      </a:r>
                      <a:r>
                        <a:rPr lang="en-GB" sz="2400" baseline="-25000">
                          <a:effectLst/>
                        </a:rPr>
                        <a:t>2</a:t>
                      </a:r>
                      <a:r>
                        <a:rPr lang="en-GB" sz="2400">
                          <a:effectLst/>
                        </a:rPr>
                        <a:t> (Sensor)</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R</a:t>
                      </a:r>
                      <a:r>
                        <a:rPr lang="en-GB" sz="2400" baseline="-25000" dirty="0">
                          <a:effectLst/>
                        </a:rPr>
                        <a:t>1</a:t>
                      </a:r>
                      <a:r>
                        <a:rPr lang="en-GB" sz="2400" dirty="0">
                          <a:effectLst/>
                        </a:rPr>
                        <a:t> (Fixed)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dirty="0">
                          <a:effectLst/>
                        </a:rPr>
                        <a:t>V</a:t>
                      </a:r>
                      <a:r>
                        <a:rPr lang="en-GB" sz="2400" baseline="-25000" dirty="0">
                          <a:effectLst/>
                        </a:rPr>
                        <a:t>out-R2</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456546">
                <a:tc>
                  <a:txBody>
                    <a:bodyPr/>
                    <a:lstStyle/>
                    <a:p>
                      <a:pPr marL="0" marR="0" algn="ctr">
                        <a:lnSpc>
                          <a:spcPct val="115000"/>
                        </a:lnSpc>
                        <a:spcBef>
                          <a:spcPts val="0"/>
                        </a:spcBef>
                        <a:spcAft>
                          <a:spcPts val="0"/>
                        </a:spcAft>
                      </a:pPr>
                      <a:r>
                        <a:rPr lang="en-GB" sz="2400" dirty="0">
                          <a:effectLst/>
                        </a:rPr>
                        <a:t>Light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1kΩ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5.6kΩ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dirty="0">
                          <a:effectLst/>
                        </a:rPr>
                        <a:t>0.76 V</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456546">
                <a:tc>
                  <a:txBody>
                    <a:bodyPr/>
                    <a:lstStyle/>
                    <a:p>
                      <a:pPr marL="0" marR="0" algn="ctr">
                        <a:lnSpc>
                          <a:spcPct val="115000"/>
                        </a:lnSpc>
                        <a:spcBef>
                          <a:spcPts val="0"/>
                        </a:spcBef>
                        <a:spcAft>
                          <a:spcPts val="0"/>
                        </a:spcAft>
                      </a:pPr>
                      <a:r>
                        <a:rPr lang="en-GB" sz="2400">
                          <a:effectLst/>
                        </a:rPr>
                        <a:t>Dim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a:effectLst/>
                        </a:rPr>
                        <a:t>7kΩ</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5.6kΩ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a:effectLst/>
                        </a:rPr>
                        <a:t>2.78 V</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456546">
                <a:tc>
                  <a:txBody>
                    <a:bodyPr/>
                    <a:lstStyle/>
                    <a:p>
                      <a:pPr marL="0" marR="0" algn="ctr">
                        <a:lnSpc>
                          <a:spcPct val="115000"/>
                        </a:lnSpc>
                        <a:spcBef>
                          <a:spcPts val="0"/>
                        </a:spcBef>
                        <a:spcAft>
                          <a:spcPts val="0"/>
                        </a:spcAft>
                      </a:pPr>
                      <a:r>
                        <a:rPr lang="en-GB" sz="2400" dirty="0">
                          <a:effectLst/>
                        </a:rPr>
                        <a:t>Dark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10kΩ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GB" sz="2400" dirty="0">
                          <a:effectLst/>
                        </a:rPr>
                        <a:t>5.6kΩ</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solidFill>
                  </a:tcPr>
                </a:tc>
                <a:tc>
                  <a:txBody>
                    <a:bodyPr/>
                    <a:lstStyle/>
                    <a:p>
                      <a:pPr marL="0" marR="0" algn="ctr">
                        <a:lnSpc>
                          <a:spcPct val="115000"/>
                        </a:lnSpc>
                        <a:spcBef>
                          <a:spcPts val="0"/>
                        </a:spcBef>
                        <a:spcAft>
                          <a:spcPts val="0"/>
                        </a:spcAft>
                      </a:pPr>
                      <a:r>
                        <a:rPr lang="en-GB" sz="2400" dirty="0">
                          <a:effectLst/>
                        </a:rPr>
                        <a:t>3.21 V</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EDC71E4A-9E9F-42E1-B77A-6A35EBD048CE}" type="slidenum">
              <a:rPr lang="en-US" smtClean="0"/>
              <a:t>11</a:t>
            </a:fld>
            <a:endParaRPr lang="en-US" dirty="0"/>
          </a:p>
        </p:txBody>
      </p:sp>
      <p:sp>
        <p:nvSpPr>
          <p:cNvPr id="6" name="TextBox 5"/>
          <p:cNvSpPr txBox="1"/>
          <p:nvPr/>
        </p:nvSpPr>
        <p:spPr>
          <a:xfrm>
            <a:off x="1780206" y="5691323"/>
            <a:ext cx="9089409" cy="523220"/>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As the light intensity increases, the resistance decrease.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857" y="1190972"/>
            <a:ext cx="5527307" cy="4264723"/>
          </a:xfrm>
          <a:prstGeom prst="rect">
            <a:avLst/>
          </a:prstGeom>
        </p:spPr>
      </p:pic>
    </p:spTree>
    <p:extLst>
      <p:ext uri="{BB962C8B-B14F-4D97-AF65-F5344CB8AC3E}">
        <p14:creationId xmlns:p14="http://schemas.microsoft.com/office/powerpoint/2010/main" val="4210410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12</a:t>
            </a:fld>
            <a:endParaRPr lang="en-US"/>
          </a:p>
        </p:txBody>
      </p:sp>
      <p:pic>
        <p:nvPicPr>
          <p:cNvPr id="1026" name="Picture 2" descr="https://www.allaboutcircuits.com/uploads/articles/An-Introduction-to-Digital-Signal-Processin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22" y="394150"/>
            <a:ext cx="11358385" cy="57473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46220" y="5954137"/>
            <a:ext cx="6166306" cy="584775"/>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Digital communication system</a:t>
            </a:r>
          </a:p>
        </p:txBody>
      </p:sp>
    </p:spTree>
    <p:extLst>
      <p:ext uri="{BB962C8B-B14F-4D97-AF65-F5344CB8AC3E}">
        <p14:creationId xmlns:p14="http://schemas.microsoft.com/office/powerpoint/2010/main" val="1310045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13</a:t>
            </a:fld>
            <a:endParaRPr lang="en-US"/>
          </a:p>
        </p:txBody>
      </p:sp>
      <p:pic>
        <p:nvPicPr>
          <p:cNvPr id="1026" name="Picture 2" descr="https://www.allaboutcircuits.com/uploads/articles/An-Introduction-to-Digital-Signal-Processin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22" y="366854"/>
            <a:ext cx="11358385" cy="57473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306471" y="6166917"/>
            <a:ext cx="7042245" cy="461665"/>
          </a:xfrm>
          <a:prstGeom prst="rect">
            <a:avLst/>
          </a:prstGeom>
          <a:noFill/>
        </p:spPr>
        <p:txBody>
          <a:bodyPr wrap="square" rtlCol="0">
            <a:spAutoFit/>
          </a:bodyPr>
          <a:lstStyle/>
          <a:p>
            <a:r>
              <a:rPr lang="en-US" sz="2400" dirty="0">
                <a:solidFill>
                  <a:srgbClr val="0000FF"/>
                </a:solidFill>
                <a:latin typeface="Arial" panose="020B0604020202020204" pitchFamily="34" charset="0"/>
                <a:cs typeface="Arial" panose="020B0604020202020204" pitchFamily="34" charset="0"/>
              </a:rPr>
              <a:t>Micro-controller has both ADC and DAC capability</a:t>
            </a:r>
          </a:p>
        </p:txBody>
      </p:sp>
      <p:sp>
        <p:nvSpPr>
          <p:cNvPr id="6" name="TextBox 5"/>
          <p:cNvSpPr txBox="1"/>
          <p:nvPr/>
        </p:nvSpPr>
        <p:spPr>
          <a:xfrm>
            <a:off x="627796" y="2308747"/>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p:txBody>
      </p:sp>
      <p:sp>
        <p:nvSpPr>
          <p:cNvPr id="7" name="TextBox 6"/>
          <p:cNvSpPr txBox="1"/>
          <p:nvPr/>
        </p:nvSpPr>
        <p:spPr>
          <a:xfrm>
            <a:off x="10333629" y="2308747"/>
            <a:ext cx="805218"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LED</a:t>
            </a:r>
          </a:p>
        </p:txBody>
      </p:sp>
      <p:sp>
        <p:nvSpPr>
          <p:cNvPr id="8" name="TextBox 7"/>
          <p:cNvSpPr txBox="1"/>
          <p:nvPr/>
        </p:nvSpPr>
        <p:spPr>
          <a:xfrm>
            <a:off x="4859479" y="2934421"/>
            <a:ext cx="2567470"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Micro-controller</a:t>
            </a:r>
          </a:p>
        </p:txBody>
      </p:sp>
      <p:sp>
        <p:nvSpPr>
          <p:cNvPr id="2" name="Rounded Rectangle 1"/>
          <p:cNvSpPr/>
          <p:nvPr/>
        </p:nvSpPr>
        <p:spPr>
          <a:xfrm>
            <a:off x="2606722" y="314134"/>
            <a:ext cx="6441744" cy="2620287"/>
          </a:xfrm>
          <a:prstGeom prst="round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72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206" y="365126"/>
            <a:ext cx="10780594" cy="1067890"/>
          </a:xfrm>
        </p:spPr>
        <p:txBody>
          <a:bodyPr>
            <a:normAutofit fontScale="90000"/>
          </a:bodyPr>
          <a:lstStyle/>
          <a:p>
            <a:r>
              <a:rPr lang="en-US" dirty="0"/>
              <a:t>Analog-to-digital converter (ADC) </a:t>
            </a:r>
            <a:br>
              <a:rPr lang="en-US" dirty="0"/>
            </a:br>
            <a:endParaRPr lang="en-US" dirty="0"/>
          </a:p>
        </p:txBody>
      </p:sp>
      <p:sp>
        <p:nvSpPr>
          <p:cNvPr id="3" name="Content Placeholder 2"/>
          <p:cNvSpPr>
            <a:spLocks noGrp="1"/>
          </p:cNvSpPr>
          <p:nvPr>
            <p:ph idx="1"/>
          </p:nvPr>
        </p:nvSpPr>
        <p:spPr>
          <a:xfrm>
            <a:off x="368489" y="1034055"/>
            <a:ext cx="11354937" cy="4351338"/>
          </a:xfrm>
        </p:spPr>
        <p:txBody>
          <a:bodyPr/>
          <a:lstStyle/>
          <a:p>
            <a:r>
              <a:rPr lang="en-US" dirty="0"/>
              <a:t>The ADC translates the analog waves of your voice into digital data that the computer can understand. To do this, </a:t>
            </a:r>
            <a:r>
              <a:rPr lang="en-US" dirty="0">
                <a:solidFill>
                  <a:srgbClr val="C00000"/>
                </a:solidFill>
              </a:rPr>
              <a:t>it samples, or digitizes</a:t>
            </a:r>
            <a:r>
              <a:rPr lang="en-US" dirty="0"/>
              <a:t>, the sound by taking precise measurements of the wave at frequent intervals.</a:t>
            </a:r>
          </a:p>
        </p:txBody>
      </p:sp>
      <p:sp>
        <p:nvSpPr>
          <p:cNvPr id="4" name="Slide Number Placeholder 3"/>
          <p:cNvSpPr>
            <a:spLocks noGrp="1"/>
          </p:cNvSpPr>
          <p:nvPr>
            <p:ph type="sldNum" sz="quarter" idx="12"/>
          </p:nvPr>
        </p:nvSpPr>
        <p:spPr/>
        <p:txBody>
          <a:bodyPr/>
          <a:lstStyle/>
          <a:p>
            <a:fld id="{EDC71E4A-9E9F-42E1-B77A-6A35EBD048CE}" type="slidenum">
              <a:rPr lang="en-US" smtClean="0"/>
              <a:t>14</a:t>
            </a:fld>
            <a:endParaRPr lang="en-US"/>
          </a:p>
        </p:txBody>
      </p:sp>
      <p:pic>
        <p:nvPicPr>
          <p:cNvPr id="5" name="Picture 4"/>
          <p:cNvPicPr>
            <a:picLocks noChangeAspect="1"/>
          </p:cNvPicPr>
          <p:nvPr/>
        </p:nvPicPr>
        <p:blipFill>
          <a:blip r:embed="rId3"/>
          <a:stretch>
            <a:fillRect/>
          </a:stretch>
        </p:blipFill>
        <p:spPr>
          <a:xfrm>
            <a:off x="91425" y="2245679"/>
            <a:ext cx="7636730" cy="2588480"/>
          </a:xfrm>
          <a:prstGeom prst="rect">
            <a:avLst/>
          </a:prstGeom>
        </p:spPr>
      </p:pic>
      <p:sp>
        <p:nvSpPr>
          <p:cNvPr id="6" name="TextBox 5"/>
          <p:cNvSpPr txBox="1"/>
          <p:nvPr/>
        </p:nvSpPr>
        <p:spPr>
          <a:xfrm>
            <a:off x="217190" y="4393099"/>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LDR</a:t>
            </a:r>
          </a:p>
        </p:txBody>
      </p:sp>
      <p:sp>
        <p:nvSpPr>
          <p:cNvPr id="7" name="TextBox 6"/>
          <p:cNvSpPr txBox="1"/>
          <p:nvPr/>
        </p:nvSpPr>
        <p:spPr>
          <a:xfrm>
            <a:off x="3455094" y="4374637"/>
            <a:ext cx="306216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Micro-controller</a:t>
            </a:r>
          </a:p>
        </p:txBody>
      </p:sp>
      <p:pic>
        <p:nvPicPr>
          <p:cNvPr id="9" name="PeEGNr5L-hE"/>
          <p:cNvPicPr>
            <a:picLocks noRot="1" noChangeAspect="1"/>
          </p:cNvPicPr>
          <p:nvPr>
            <a:videoFile r:link="rId1"/>
          </p:nvPr>
        </p:nvPicPr>
        <p:blipFill>
          <a:blip r:embed="rId4"/>
          <a:stretch>
            <a:fillRect/>
          </a:stretch>
        </p:blipFill>
        <p:spPr>
          <a:xfrm>
            <a:off x="7433601" y="2473231"/>
            <a:ext cx="4657563" cy="2619879"/>
          </a:xfrm>
          <a:prstGeom prst="rect">
            <a:avLst/>
          </a:prstGeom>
        </p:spPr>
      </p:pic>
    </p:spTree>
    <p:extLst>
      <p:ext uri="{BB962C8B-B14F-4D97-AF65-F5344CB8AC3E}">
        <p14:creationId xmlns:p14="http://schemas.microsoft.com/office/powerpoint/2010/main" val="3388887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243" y="429180"/>
            <a:ext cx="10515600" cy="603866"/>
          </a:xfrm>
        </p:spPr>
        <p:txBody>
          <a:bodyPr>
            <a:normAutofit fontScale="90000"/>
          </a:bodyPr>
          <a:lstStyle/>
          <a:p>
            <a:r>
              <a:rPr lang="en-US" dirty="0"/>
              <a:t>Pulse-code modulation (PCM)</a:t>
            </a:r>
          </a:p>
        </p:txBody>
      </p:sp>
      <p:sp>
        <p:nvSpPr>
          <p:cNvPr id="3" name="Content Placeholder 2"/>
          <p:cNvSpPr>
            <a:spLocks noGrp="1"/>
          </p:cNvSpPr>
          <p:nvPr>
            <p:ph idx="1"/>
          </p:nvPr>
        </p:nvSpPr>
        <p:spPr>
          <a:xfrm>
            <a:off x="415118" y="1129590"/>
            <a:ext cx="11335603" cy="4351338"/>
          </a:xfrm>
        </p:spPr>
        <p:txBody>
          <a:bodyPr/>
          <a:lstStyle/>
          <a:p>
            <a:pPr marL="0" indent="0">
              <a:buNone/>
            </a:pPr>
            <a:r>
              <a:rPr lang="en-US" dirty="0"/>
              <a:t>The most widely used technique for digitizing information signals for electronic data transmission is </a:t>
            </a:r>
            <a:r>
              <a:rPr lang="en-US" dirty="0">
                <a:solidFill>
                  <a:srgbClr val="C00000"/>
                </a:solidFill>
              </a:rPr>
              <a:t>pulse-code modulation (PCM). </a:t>
            </a:r>
            <a:r>
              <a:rPr lang="en-US" dirty="0"/>
              <a:t>PCM signals are serial digital data. </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301" y="2337226"/>
            <a:ext cx="8761484" cy="4019124"/>
          </a:xfrm>
          <a:prstGeom prst="rect">
            <a:avLst/>
          </a:prstGeom>
        </p:spPr>
      </p:pic>
      <p:sp>
        <p:nvSpPr>
          <p:cNvPr id="7" name="TextBox 6"/>
          <p:cNvSpPr txBox="1"/>
          <p:nvPr/>
        </p:nvSpPr>
        <p:spPr>
          <a:xfrm>
            <a:off x="2497541" y="6366491"/>
            <a:ext cx="8147713" cy="461665"/>
          </a:xfrm>
          <a:prstGeom prst="rect">
            <a:avLst/>
          </a:prstGeom>
          <a:noFill/>
        </p:spPr>
        <p:txBody>
          <a:bodyPr wrap="square" rtlCol="0">
            <a:spAutoFit/>
          </a:bodyPr>
          <a:lstStyle/>
          <a:p>
            <a:r>
              <a:rPr lang="en-US" sz="2400" dirty="0">
                <a:solidFill>
                  <a:srgbClr val="0000FF"/>
                </a:solidFill>
                <a:latin typeface="Arial" panose="020B0604020202020204" pitchFamily="34" charset="0"/>
                <a:cs typeface="Arial" panose="020B0604020202020204" pitchFamily="34" charset="0"/>
              </a:rPr>
              <a:t>Block diagram showing Pulse code modulation process</a:t>
            </a:r>
          </a:p>
        </p:txBody>
      </p:sp>
    </p:spTree>
    <p:extLst>
      <p:ext uri="{BB962C8B-B14F-4D97-AF65-F5344CB8AC3E}">
        <p14:creationId xmlns:p14="http://schemas.microsoft.com/office/powerpoint/2010/main" val="3623012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400"/>
          </a:xfrm>
        </p:spPr>
        <p:txBody>
          <a:bodyPr/>
          <a:lstStyle/>
          <a:p>
            <a:r>
              <a:rPr lang="en-US" dirty="0"/>
              <a:t>Pulse-code modulation (PCM)</a:t>
            </a:r>
          </a:p>
        </p:txBody>
      </p:sp>
      <p:sp>
        <p:nvSpPr>
          <p:cNvPr id="3" name="Content Placeholder 2"/>
          <p:cNvSpPr>
            <a:spLocks noGrp="1"/>
          </p:cNvSpPr>
          <p:nvPr>
            <p:ph idx="1"/>
          </p:nvPr>
        </p:nvSpPr>
        <p:spPr>
          <a:xfrm>
            <a:off x="838200" y="1088647"/>
            <a:ext cx="10515600" cy="4351338"/>
          </a:xfrm>
        </p:spPr>
        <p:txBody>
          <a:bodyPr/>
          <a:lstStyle/>
          <a:p>
            <a:pPr marL="0" indent="0">
              <a:buNone/>
            </a:pPr>
            <a:r>
              <a:rPr lang="en-US" dirty="0"/>
              <a:t>Pulse-code modulation (PCM) consists of three steps:</a:t>
            </a:r>
          </a:p>
          <a:p>
            <a:pPr marL="514350" indent="-514350">
              <a:buAutoNum type="alphaUcPeriod"/>
            </a:pPr>
            <a:r>
              <a:rPr lang="en-US" dirty="0"/>
              <a:t>Sampling</a:t>
            </a:r>
          </a:p>
          <a:p>
            <a:pPr marL="514350" indent="-514350">
              <a:buAutoNum type="alphaUcPeriod"/>
            </a:pPr>
            <a:r>
              <a:rPr lang="en-US" dirty="0"/>
              <a:t>Quantization</a:t>
            </a:r>
          </a:p>
          <a:p>
            <a:pPr marL="514350" indent="-514350">
              <a:buAutoNum type="alphaUcPeriod"/>
            </a:pPr>
            <a:r>
              <a:rPr lang="en-US" dirty="0"/>
              <a:t>Encoding</a:t>
            </a:r>
          </a:p>
          <a:p>
            <a:pPr marL="514350" indent="-514350">
              <a:buAutoNum type="alphaUcPeriod"/>
            </a:pPr>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16</a:t>
            </a:fld>
            <a:endParaRPr lang="en-US"/>
          </a:p>
        </p:txBody>
      </p:sp>
    </p:spTree>
    <p:extLst>
      <p:ext uri="{BB962C8B-B14F-4D97-AF65-F5344CB8AC3E}">
        <p14:creationId xmlns:p14="http://schemas.microsoft.com/office/powerpoint/2010/main" val="2329140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36" y="342338"/>
            <a:ext cx="10515600" cy="658457"/>
          </a:xfrm>
        </p:spPr>
        <p:txBody>
          <a:bodyPr>
            <a:normAutofit fontScale="90000"/>
          </a:bodyPr>
          <a:lstStyle/>
          <a:p>
            <a:r>
              <a:rPr lang="en-US" dirty="0"/>
              <a:t>A. Sampling </a:t>
            </a:r>
          </a:p>
        </p:txBody>
      </p:sp>
      <p:sp>
        <p:nvSpPr>
          <p:cNvPr id="3" name="Content Placeholder 2"/>
          <p:cNvSpPr>
            <a:spLocks noGrp="1"/>
          </p:cNvSpPr>
          <p:nvPr>
            <p:ph idx="1"/>
          </p:nvPr>
        </p:nvSpPr>
        <p:spPr>
          <a:xfrm>
            <a:off x="442414" y="1266066"/>
            <a:ext cx="11472081" cy="4351338"/>
          </a:xfrm>
        </p:spPr>
        <p:txBody>
          <a:bodyPr/>
          <a:lstStyle/>
          <a:p>
            <a:r>
              <a:rPr lang="en-US" dirty="0">
                <a:ea typeface="Calibri" panose="020F0502020204030204" pitchFamily="34" charset="0"/>
                <a:cs typeface="Levenim MT" panose="02010502060101010101" pitchFamily="2" charset="-79"/>
              </a:rPr>
              <a:t>Sample is a single measurement of amplitude.</a:t>
            </a:r>
          </a:p>
          <a:p>
            <a:r>
              <a:rPr lang="en-US" dirty="0">
                <a:ea typeface="Calibri" panose="020F0502020204030204" pitchFamily="34" charset="0"/>
                <a:cs typeface="Levenim MT" panose="02010502060101010101" pitchFamily="2" charset="-79"/>
              </a:rPr>
              <a:t>The larger sampling rate, the better accuracy of conversion. </a:t>
            </a:r>
            <a:endParaRPr lang="ru-RU" dirty="0">
              <a:ea typeface="Calibri" panose="020F0502020204030204" pitchFamily="34" charset="0"/>
              <a:cs typeface="Levenim MT" panose="02010502060101010101" pitchFamily="2" charset="-79"/>
            </a:endParaRPr>
          </a:p>
          <a:p>
            <a:pPr marL="0" indent="0">
              <a:buNone/>
            </a:pPr>
            <a:endParaRPr lang="en-US" dirty="0">
              <a:latin typeface="Levenim MT" panose="02010502060101010101" pitchFamily="2" charset="-79"/>
              <a:ea typeface="Calibri" panose="020F0502020204030204" pitchFamily="34" charset="0"/>
              <a:cs typeface="Levenim MT" panose="02010502060101010101" pitchFamily="2" charset="-79"/>
            </a:endParaRP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17</a:t>
            </a:fld>
            <a:endParaRPr lang="en-US"/>
          </a:p>
        </p:txBody>
      </p:sp>
      <p:grpSp>
        <p:nvGrpSpPr>
          <p:cNvPr id="7" name="Группа 37"/>
          <p:cNvGrpSpPr/>
          <p:nvPr/>
        </p:nvGrpSpPr>
        <p:grpSpPr>
          <a:xfrm>
            <a:off x="2310974" y="2445328"/>
            <a:ext cx="7133277" cy="4119246"/>
            <a:chOff x="5239960" y="364059"/>
            <a:chExt cx="6577307" cy="3780809"/>
          </a:xfrm>
        </p:grpSpPr>
        <p:grpSp>
          <p:nvGrpSpPr>
            <p:cNvPr id="8" name="Группа 2"/>
            <p:cNvGrpSpPr/>
            <p:nvPr/>
          </p:nvGrpSpPr>
          <p:grpSpPr>
            <a:xfrm>
              <a:off x="5239960" y="364059"/>
              <a:ext cx="6261411" cy="3780809"/>
              <a:chOff x="137672" y="753237"/>
              <a:chExt cx="5004214" cy="5897609"/>
            </a:xfrm>
          </p:grpSpPr>
          <p:sp>
            <p:nvSpPr>
              <p:cNvPr id="14" name="TextBox 4"/>
              <p:cNvSpPr txBox="1"/>
              <p:nvPr/>
            </p:nvSpPr>
            <p:spPr>
              <a:xfrm>
                <a:off x="137672" y="753237"/>
                <a:ext cx="5004214" cy="5897609"/>
              </a:xfrm>
              <a:prstGeom prst="rect">
                <a:avLst/>
              </a:prstGeom>
              <a:noFill/>
            </p:spPr>
            <p:txBody>
              <a:bodyPr wrap="square" rtlCol="0">
                <a:noAutofit/>
              </a:bodyPr>
              <a:lstStyle/>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1010______________________________________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1001______________________________________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1000______________________________________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0111</a:t>
                </a:r>
                <a:r>
                  <a:rPr lang="ru-RU" b="1" kern="1200" dirty="0">
                    <a:solidFill>
                      <a:srgbClr val="000000"/>
                    </a:solidFill>
                    <a:effectLst/>
                    <a:latin typeface="Levму"/>
                    <a:ea typeface="Times New Roman" panose="02020603050405020304" pitchFamily="18" charset="0"/>
                    <a:cs typeface="Levenim MT" panose="02010502060101010101" pitchFamily="2" charset="-79"/>
                  </a:rPr>
                  <a:t>______________________________________</a:t>
                </a:r>
                <a:r>
                  <a:rPr lang="en-US" b="1" dirty="0">
                    <a:solidFill>
                      <a:srgbClr val="000000"/>
                    </a:solidFill>
                    <a:latin typeface="Levenim MT" panose="02010502060101010101" pitchFamily="2" charset="-79"/>
                    <a:ea typeface="Times New Roman" panose="02020603050405020304" pitchFamily="18" charset="0"/>
                    <a:cs typeface="Levenim MT" panose="02010502060101010101" pitchFamily="2" charset="-79"/>
                  </a:rPr>
                  <a:t>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0110______________________________________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0101 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0100 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a:p>
                <a:pPr>
                  <a:spcAft>
                    <a:spcPts val="0"/>
                  </a:spcAft>
                </a:pPr>
                <a:r>
                  <a:rPr lang="ru-RU" kern="1200" dirty="0">
                    <a:solidFill>
                      <a:srgbClr val="000000"/>
                    </a:solidFill>
                    <a:effectLst/>
                    <a:latin typeface="Levму"/>
                    <a:ea typeface="Times New Roman" panose="02020603050405020304" pitchFamily="18" charset="0"/>
                    <a:cs typeface="Levenim MT" panose="02010502060101010101" pitchFamily="2" charset="-79"/>
                  </a:rPr>
                  <a:t>0011 ______________________________________</a:t>
                </a:r>
                <a:r>
                  <a:rPr lang="en-US"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____</a:t>
                </a:r>
                <a:endParaRPr lang="ru-RU" sz="2000" dirty="0">
                  <a:effectLst/>
                  <a:latin typeface="Levму"/>
                  <a:ea typeface="Times New Roman" panose="02020603050405020304" pitchFamily="18" charset="0"/>
                  <a:cs typeface="Levenim MT" panose="02010502060101010101" pitchFamily="2" charset="-79"/>
                </a:endParaRPr>
              </a:p>
            </p:txBody>
          </p:sp>
          <p:cxnSp>
            <p:nvCxnSpPr>
              <p:cNvPr id="15" name="Прямая со стрелкой 4"/>
              <p:cNvCxnSpPr/>
              <p:nvPr/>
            </p:nvCxnSpPr>
            <p:spPr>
              <a:xfrm>
                <a:off x="798497" y="963522"/>
                <a:ext cx="0" cy="3413241"/>
              </a:xfrm>
              <a:prstGeom prst="straightConnector1">
                <a:avLst/>
              </a:prstGeom>
              <a:ln w="28575">
                <a:headEnd type="triangle"/>
                <a:tailEnd type="triangle"/>
              </a:ln>
            </p:spPr>
            <p:style>
              <a:lnRef idx="3">
                <a:schemeClr val="dk1"/>
              </a:lnRef>
              <a:fillRef idx="0">
                <a:schemeClr val="dk1"/>
              </a:fillRef>
              <a:effectRef idx="2">
                <a:schemeClr val="dk1"/>
              </a:effectRef>
              <a:fontRef idx="minor">
                <a:schemeClr val="tx1"/>
              </a:fontRef>
            </p:style>
          </p:cxnSp>
          <p:sp>
            <p:nvSpPr>
              <p:cNvPr id="16" name="Полилиния 5"/>
              <p:cNvSpPr/>
              <p:nvPr/>
            </p:nvSpPr>
            <p:spPr>
              <a:xfrm>
                <a:off x="796413" y="1271276"/>
                <a:ext cx="3996813" cy="2828776"/>
              </a:xfrm>
              <a:custGeom>
                <a:avLst/>
                <a:gdLst>
                  <a:gd name="connsiteX0" fmla="*/ 0 w 4858348"/>
                  <a:gd name="connsiteY0" fmla="*/ 1205269 h 3610441"/>
                  <a:gd name="connsiteX1" fmla="*/ 958646 w 4858348"/>
                  <a:gd name="connsiteY1" fmla="*/ 394107 h 3610441"/>
                  <a:gd name="connsiteX2" fmla="*/ 1991033 w 4858348"/>
                  <a:gd name="connsiteY2" fmla="*/ 1028288 h 3610441"/>
                  <a:gd name="connsiteX3" fmla="*/ 2949678 w 4858348"/>
                  <a:gd name="connsiteY3" fmla="*/ 84391 h 3610441"/>
                  <a:gd name="connsiteX4" fmla="*/ 3908323 w 4858348"/>
                  <a:gd name="connsiteY4" fmla="*/ 3579759 h 3610441"/>
                  <a:gd name="connsiteX5" fmla="*/ 4748981 w 4858348"/>
                  <a:gd name="connsiteY5" fmla="*/ 1780456 h 3610441"/>
                  <a:gd name="connsiteX6" fmla="*/ 4822723 w 4858348"/>
                  <a:gd name="connsiteY6" fmla="*/ 1618223 h 36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58348" h="3610441">
                    <a:moveTo>
                      <a:pt x="0" y="1205269"/>
                    </a:moveTo>
                    <a:cubicBezTo>
                      <a:pt x="313403" y="814436"/>
                      <a:pt x="626807" y="423604"/>
                      <a:pt x="958646" y="394107"/>
                    </a:cubicBezTo>
                    <a:cubicBezTo>
                      <a:pt x="1290485" y="364610"/>
                      <a:pt x="1659194" y="1079907"/>
                      <a:pt x="1991033" y="1028288"/>
                    </a:cubicBezTo>
                    <a:cubicBezTo>
                      <a:pt x="2322872" y="976669"/>
                      <a:pt x="2630130" y="-340854"/>
                      <a:pt x="2949678" y="84391"/>
                    </a:cubicBezTo>
                    <a:cubicBezTo>
                      <a:pt x="3269226" y="509636"/>
                      <a:pt x="3608439" y="3297082"/>
                      <a:pt x="3908323" y="3579759"/>
                    </a:cubicBezTo>
                    <a:cubicBezTo>
                      <a:pt x="4208207" y="3862436"/>
                      <a:pt x="4596581" y="2107379"/>
                      <a:pt x="4748981" y="1780456"/>
                    </a:cubicBezTo>
                    <a:cubicBezTo>
                      <a:pt x="4901381" y="1453533"/>
                      <a:pt x="4862052" y="1535878"/>
                      <a:pt x="4822723" y="1618223"/>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latin typeface="Levму"/>
                  <a:cs typeface="Levenim MT" panose="02010502060101010101" pitchFamily="2" charset="-79"/>
                </a:endParaRPr>
              </a:p>
            </p:txBody>
          </p:sp>
          <p:cxnSp>
            <p:nvCxnSpPr>
              <p:cNvPr id="17" name="Прямая со стрелкой 6"/>
              <p:cNvCxnSpPr/>
              <p:nvPr/>
            </p:nvCxnSpPr>
            <p:spPr>
              <a:xfrm flipH="1" flipV="1">
                <a:off x="1002319" y="1976665"/>
                <a:ext cx="571" cy="501064"/>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7"/>
              <p:cNvCxnSpPr/>
              <p:nvPr/>
            </p:nvCxnSpPr>
            <p:spPr>
              <a:xfrm flipH="1" flipV="1">
                <a:off x="1185658" y="1805449"/>
                <a:ext cx="2713" cy="67228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8"/>
              <p:cNvCxnSpPr/>
              <p:nvPr/>
            </p:nvCxnSpPr>
            <p:spPr>
              <a:xfrm flipH="1" flipV="1">
                <a:off x="1371139" y="1657688"/>
                <a:ext cx="572" cy="820041"/>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9"/>
              <p:cNvCxnSpPr/>
              <p:nvPr/>
            </p:nvCxnSpPr>
            <p:spPr>
              <a:xfrm flipH="1" flipV="1">
                <a:off x="1543398" y="1593893"/>
                <a:ext cx="13794" cy="88383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10"/>
              <p:cNvCxnSpPr/>
              <p:nvPr/>
            </p:nvCxnSpPr>
            <p:spPr>
              <a:xfrm flipH="1" flipV="1">
                <a:off x="1735968" y="1619883"/>
                <a:ext cx="572" cy="85784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11"/>
              <p:cNvCxnSpPr/>
              <p:nvPr/>
            </p:nvCxnSpPr>
            <p:spPr>
              <a:xfrm flipH="1" flipV="1">
                <a:off x="1911994" y="1745112"/>
                <a:ext cx="10027" cy="73261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12"/>
              <p:cNvCxnSpPr/>
              <p:nvPr/>
            </p:nvCxnSpPr>
            <p:spPr>
              <a:xfrm flipH="1" flipV="1">
                <a:off x="2097475" y="1912869"/>
                <a:ext cx="10028" cy="56486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13"/>
              <p:cNvCxnSpPr/>
              <p:nvPr/>
            </p:nvCxnSpPr>
            <p:spPr>
              <a:xfrm flipH="1" flipV="1">
                <a:off x="2290270" y="2052274"/>
                <a:ext cx="572" cy="42545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14"/>
              <p:cNvCxnSpPr/>
              <p:nvPr/>
            </p:nvCxnSpPr>
            <p:spPr>
              <a:xfrm flipH="1" flipV="1">
                <a:off x="2469618" y="2067708"/>
                <a:ext cx="5014" cy="410021"/>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15"/>
              <p:cNvCxnSpPr/>
              <p:nvPr/>
            </p:nvCxnSpPr>
            <p:spPr>
              <a:xfrm flipV="1">
                <a:off x="2653408" y="1886879"/>
                <a:ext cx="0" cy="59085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16"/>
              <p:cNvCxnSpPr/>
              <p:nvPr/>
            </p:nvCxnSpPr>
            <p:spPr>
              <a:xfrm flipH="1" flipV="1">
                <a:off x="2844572" y="1553725"/>
                <a:ext cx="1" cy="924004"/>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17"/>
              <p:cNvCxnSpPr/>
              <p:nvPr/>
            </p:nvCxnSpPr>
            <p:spPr>
              <a:xfrm flipH="1" flipV="1">
                <a:off x="3030513" y="1306737"/>
                <a:ext cx="13496" cy="117682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18"/>
              <p:cNvCxnSpPr/>
              <p:nvPr/>
            </p:nvCxnSpPr>
            <p:spPr>
              <a:xfrm flipH="1" flipV="1">
                <a:off x="3221677" y="1342179"/>
                <a:ext cx="3371" cy="114138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19"/>
              <p:cNvCxnSpPr/>
              <p:nvPr/>
            </p:nvCxnSpPr>
            <p:spPr>
              <a:xfrm flipH="1" flipV="1">
                <a:off x="3407158" y="1856163"/>
                <a:ext cx="6016" cy="62156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20"/>
              <p:cNvCxnSpPr/>
              <p:nvPr/>
            </p:nvCxnSpPr>
            <p:spPr>
              <a:xfrm>
                <a:off x="3681723" y="2491753"/>
                <a:ext cx="8522" cy="538716"/>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21"/>
              <p:cNvCxnSpPr/>
              <p:nvPr/>
            </p:nvCxnSpPr>
            <p:spPr>
              <a:xfrm flipH="1">
                <a:off x="3851501" y="2491753"/>
                <a:ext cx="13496" cy="117682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22"/>
              <p:cNvCxnSpPr/>
              <p:nvPr/>
            </p:nvCxnSpPr>
            <p:spPr>
              <a:xfrm flipH="1">
                <a:off x="4050176" y="2491753"/>
                <a:ext cx="5286" cy="1608299"/>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23"/>
              <p:cNvCxnSpPr/>
              <p:nvPr/>
            </p:nvCxnSpPr>
            <p:spPr>
              <a:xfrm flipH="1">
                <a:off x="4244303" y="2491753"/>
                <a:ext cx="6016" cy="1436577"/>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Прямая со стрелкой 24"/>
              <p:cNvCxnSpPr/>
              <p:nvPr/>
            </p:nvCxnSpPr>
            <p:spPr>
              <a:xfrm flipH="1">
                <a:off x="4439160" y="2491753"/>
                <a:ext cx="4094" cy="921489"/>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25"/>
              <p:cNvCxnSpPr/>
              <p:nvPr/>
            </p:nvCxnSpPr>
            <p:spPr>
              <a:xfrm flipH="1">
                <a:off x="4632095" y="2491753"/>
                <a:ext cx="4094" cy="356782"/>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Группа 29"/>
            <p:cNvGrpSpPr/>
            <p:nvPr/>
          </p:nvGrpSpPr>
          <p:grpSpPr>
            <a:xfrm>
              <a:off x="6010352" y="3081658"/>
              <a:ext cx="3819190" cy="699439"/>
              <a:chOff x="0" y="173983"/>
              <a:chExt cx="2127270" cy="334160"/>
            </a:xfrm>
          </p:grpSpPr>
          <p:sp>
            <p:nvSpPr>
              <p:cNvPr id="12" name="Полилиния 30"/>
              <p:cNvSpPr/>
              <p:nvPr/>
            </p:nvSpPr>
            <p:spPr>
              <a:xfrm>
                <a:off x="0" y="173983"/>
                <a:ext cx="640141" cy="207245"/>
              </a:xfrm>
              <a:custGeom>
                <a:avLst/>
                <a:gdLst>
                  <a:gd name="connsiteX0" fmla="*/ 0 w 999714"/>
                  <a:gd name="connsiteY0" fmla="*/ 365785 h 381476"/>
                  <a:gd name="connsiteX1" fmla="*/ 289560 w 999714"/>
                  <a:gd name="connsiteY1" fmla="*/ 25 h 381476"/>
                  <a:gd name="connsiteX2" fmla="*/ 548640 w 999714"/>
                  <a:gd name="connsiteY2" fmla="*/ 381025 h 381476"/>
                  <a:gd name="connsiteX3" fmla="*/ 960120 w 999714"/>
                  <a:gd name="connsiteY3" fmla="*/ 76225 h 381476"/>
                  <a:gd name="connsiteX4" fmla="*/ 960120 w 999714"/>
                  <a:gd name="connsiteY4" fmla="*/ 30505 h 381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714" h="381476">
                    <a:moveTo>
                      <a:pt x="0" y="365785"/>
                    </a:moveTo>
                    <a:cubicBezTo>
                      <a:pt x="99060" y="181635"/>
                      <a:pt x="198120" y="-2515"/>
                      <a:pt x="289560" y="25"/>
                    </a:cubicBezTo>
                    <a:cubicBezTo>
                      <a:pt x="381000" y="2565"/>
                      <a:pt x="436880" y="368325"/>
                      <a:pt x="548640" y="381025"/>
                    </a:cubicBezTo>
                    <a:cubicBezTo>
                      <a:pt x="660400" y="393725"/>
                      <a:pt x="891540" y="134645"/>
                      <a:pt x="960120" y="76225"/>
                    </a:cubicBezTo>
                    <a:cubicBezTo>
                      <a:pt x="1028700" y="17805"/>
                      <a:pt x="994410" y="24155"/>
                      <a:pt x="960120" y="3050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sz="2400">
                  <a:cs typeface="Levenim MT" panose="02010502060101010101" pitchFamily="2" charset="-79"/>
                </a:endParaRPr>
              </a:p>
            </p:txBody>
          </p:sp>
          <p:sp>
            <p:nvSpPr>
              <p:cNvPr id="13" name="TextBox 75"/>
              <p:cNvSpPr txBox="1"/>
              <p:nvPr/>
            </p:nvSpPr>
            <p:spPr>
              <a:xfrm>
                <a:off x="644781" y="219124"/>
                <a:ext cx="1482489" cy="289019"/>
              </a:xfrm>
              <a:prstGeom prst="rect">
                <a:avLst/>
              </a:prstGeom>
              <a:noFill/>
            </p:spPr>
            <p:txBody>
              <a:bodyPr wrap="square" rtlCol="0">
                <a:noAutofit/>
              </a:bodyPr>
              <a:lstStyle/>
              <a:p>
                <a:pPr>
                  <a:spcAft>
                    <a:spcPts val="0"/>
                  </a:spcAft>
                </a:pPr>
                <a:r>
                  <a:rPr lang="en-US" sz="2000"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Sound wave</a:t>
                </a:r>
                <a:endParaRPr lang="ru-RU" sz="2000" dirty="0">
                  <a:effectLst/>
                  <a:latin typeface="Times New Roman" panose="02020603050405020304" pitchFamily="18" charset="0"/>
                  <a:ea typeface="Times New Roman" panose="02020603050405020304" pitchFamily="18" charset="0"/>
                  <a:cs typeface="Levenim MT" panose="02010502060101010101" pitchFamily="2" charset="-79"/>
                </a:endParaRPr>
              </a:p>
            </p:txBody>
          </p:sp>
        </p:grpSp>
        <p:cxnSp>
          <p:nvCxnSpPr>
            <p:cNvPr id="10" name="Прямая со стрелкой 34"/>
            <p:cNvCxnSpPr/>
            <p:nvPr/>
          </p:nvCxnSpPr>
          <p:spPr>
            <a:xfrm flipH="1" flipV="1">
              <a:off x="9318353" y="2808518"/>
              <a:ext cx="12478" cy="97257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76"/>
            <p:cNvSpPr txBox="1"/>
            <p:nvPr/>
          </p:nvSpPr>
          <p:spPr>
            <a:xfrm>
              <a:off x="9470210" y="2976283"/>
              <a:ext cx="2347057" cy="804813"/>
            </a:xfrm>
            <a:prstGeom prst="rect">
              <a:avLst/>
            </a:prstGeom>
            <a:noFill/>
          </p:spPr>
          <p:txBody>
            <a:bodyPr wrap="square" rtlCol="0">
              <a:noAutofit/>
            </a:bodyPr>
            <a:lstStyle/>
            <a:p>
              <a:pPr>
                <a:spcAft>
                  <a:spcPts val="0"/>
                </a:spcAft>
              </a:pPr>
              <a:r>
                <a:rPr lang="en-US" sz="2000"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Measurement</a:t>
              </a:r>
            </a:p>
            <a:p>
              <a:pPr>
                <a:spcAft>
                  <a:spcPts val="0"/>
                </a:spcAft>
              </a:pPr>
              <a:r>
                <a:rPr lang="en-US" sz="2000" kern="1200" dirty="0">
                  <a:solidFill>
                    <a:srgbClr val="000000"/>
                  </a:solidFill>
                  <a:effectLst/>
                  <a:latin typeface="Levenim MT" panose="02010502060101010101" pitchFamily="2" charset="-79"/>
                  <a:ea typeface="Times New Roman" panose="02020603050405020304" pitchFamily="18" charset="0"/>
                  <a:cs typeface="Levenim MT" panose="02010502060101010101" pitchFamily="2" charset="-79"/>
                </a:rPr>
                <a:t>of amplitude </a:t>
              </a:r>
              <a:endParaRPr lang="ru-RU" sz="2000" dirty="0">
                <a:effectLst/>
                <a:latin typeface="Times New Roman" panose="02020603050405020304" pitchFamily="18" charset="0"/>
                <a:ea typeface="Times New Roman" panose="02020603050405020304" pitchFamily="18" charset="0"/>
                <a:cs typeface="Levenim MT" panose="02010502060101010101" pitchFamily="2" charset="-79"/>
              </a:endParaRPr>
            </a:p>
          </p:txBody>
        </p:sp>
      </p:grpSp>
      <p:sp>
        <p:nvSpPr>
          <p:cNvPr id="37" name="TextBox 36"/>
          <p:cNvSpPr txBox="1"/>
          <p:nvPr/>
        </p:nvSpPr>
        <p:spPr>
          <a:xfrm>
            <a:off x="8574451" y="5370693"/>
            <a:ext cx="1403281"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sample</a:t>
            </a:r>
          </a:p>
        </p:txBody>
      </p:sp>
    </p:spTree>
    <p:extLst>
      <p:ext uri="{BB962C8B-B14F-4D97-AF65-F5344CB8AC3E}">
        <p14:creationId xmlns:p14="http://schemas.microsoft.com/office/powerpoint/2010/main" val="26903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54" y="-13508"/>
            <a:ext cx="11267364" cy="753991"/>
          </a:xfrm>
        </p:spPr>
        <p:txBody>
          <a:bodyPr/>
          <a:lstStyle/>
          <a:p>
            <a:r>
              <a:rPr lang="en-US" dirty="0"/>
              <a:t>B. Quantization (1)</a:t>
            </a:r>
          </a:p>
        </p:txBody>
      </p:sp>
      <p:sp>
        <p:nvSpPr>
          <p:cNvPr id="3" name="Content Placeholder 2"/>
          <p:cNvSpPr>
            <a:spLocks noGrp="1"/>
          </p:cNvSpPr>
          <p:nvPr>
            <p:ph idx="1"/>
          </p:nvPr>
        </p:nvSpPr>
        <p:spPr>
          <a:xfrm>
            <a:off x="305938" y="740483"/>
            <a:ext cx="11267364" cy="4858603"/>
          </a:xfrm>
        </p:spPr>
        <p:txBody>
          <a:bodyPr/>
          <a:lstStyle/>
          <a:p>
            <a:pPr marL="0" indent="0">
              <a:buNone/>
            </a:pPr>
            <a:r>
              <a:rPr lang="en-US" dirty="0">
                <a:solidFill>
                  <a:srgbClr val="0000FF"/>
                </a:solidFill>
              </a:rPr>
              <a:t>The quantizing of an analog signal is done by discretizing the signal with a number of quantization levels</a:t>
            </a:r>
            <a:r>
              <a:rPr lang="en-US" dirty="0"/>
              <a:t>.</a:t>
            </a:r>
            <a:r>
              <a:rPr lang="en-US" dirty="0">
                <a:solidFill>
                  <a:srgbClr val="FF0000"/>
                </a:solidFill>
              </a:rPr>
              <a:t> </a:t>
            </a:r>
            <a:r>
              <a:rPr lang="en-US" b="1" dirty="0">
                <a:solidFill>
                  <a:srgbClr val="FF0000"/>
                </a:solidFill>
              </a:rPr>
              <a:t>Quantization</a:t>
            </a:r>
            <a:r>
              <a:rPr lang="en-US" dirty="0">
                <a:solidFill>
                  <a:srgbClr val="FF0000"/>
                </a:solidFill>
              </a:rPr>
              <a:t> is representing the sampled values of the amplitude by a finite set of levels</a:t>
            </a:r>
            <a:r>
              <a:rPr lang="en-US" dirty="0"/>
              <a:t>, which means converting a continuous-amplitude sample into a discrete-time signal.</a:t>
            </a:r>
          </a:p>
        </p:txBody>
      </p:sp>
      <p:sp>
        <p:nvSpPr>
          <p:cNvPr id="4" name="Slide Number Placeholder 3"/>
          <p:cNvSpPr>
            <a:spLocks noGrp="1"/>
          </p:cNvSpPr>
          <p:nvPr>
            <p:ph type="sldNum" sz="quarter" idx="12"/>
          </p:nvPr>
        </p:nvSpPr>
        <p:spPr/>
        <p:txBody>
          <a:bodyPr/>
          <a:lstStyle/>
          <a:p>
            <a:fld id="{EDC71E4A-9E9F-42E1-B77A-6A35EBD048CE}" type="slidenum">
              <a:rPr lang="en-US" smtClean="0"/>
              <a:t>18</a:t>
            </a:fld>
            <a:endParaRPr lang="en-US"/>
          </a:p>
        </p:txBody>
      </p:sp>
      <p:pic>
        <p:nvPicPr>
          <p:cNvPr id="8194" name="Picture 2" descr="Quantiz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38" y="2278227"/>
            <a:ext cx="7713572" cy="48595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281325" y="3057099"/>
            <a:ext cx="3234520" cy="2677656"/>
          </a:xfrm>
          <a:prstGeom prst="rect">
            <a:avLst/>
          </a:prstGeom>
          <a:noFill/>
        </p:spPr>
        <p:txBody>
          <a:bodyPr wrap="square" rtlCol="0">
            <a:spAutoFit/>
          </a:bodyPr>
          <a:lstStyle/>
          <a:p>
            <a:r>
              <a:rPr lang="en-US" sz="2400" dirty="0"/>
              <a:t>The figure shows how an analog signal gets quantized. The </a:t>
            </a:r>
            <a:r>
              <a:rPr lang="en-US" sz="2400" dirty="0">
                <a:solidFill>
                  <a:srgbClr val="0000FF"/>
                </a:solidFill>
              </a:rPr>
              <a:t>blue line </a:t>
            </a:r>
            <a:r>
              <a:rPr lang="en-US" sz="2400" dirty="0"/>
              <a:t>represents analog signal while the </a:t>
            </a:r>
            <a:r>
              <a:rPr lang="en-US" sz="2400" dirty="0">
                <a:solidFill>
                  <a:srgbClr val="C00000"/>
                </a:solidFill>
              </a:rPr>
              <a:t>brown</a:t>
            </a:r>
            <a:r>
              <a:rPr lang="en-US" sz="2400" dirty="0"/>
              <a:t> one represents the quantized signal.</a:t>
            </a:r>
          </a:p>
        </p:txBody>
      </p:sp>
    </p:spTree>
    <p:extLst>
      <p:ext uri="{BB962C8B-B14F-4D97-AF65-F5344CB8AC3E}">
        <p14:creationId xmlns:p14="http://schemas.microsoft.com/office/powerpoint/2010/main" val="1443753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54" y="122970"/>
            <a:ext cx="11267364" cy="753991"/>
          </a:xfrm>
        </p:spPr>
        <p:txBody>
          <a:bodyPr/>
          <a:lstStyle/>
          <a:p>
            <a:r>
              <a:rPr lang="en-US" dirty="0"/>
              <a:t>B. Quantization (2)</a:t>
            </a:r>
          </a:p>
        </p:txBody>
      </p:sp>
      <p:sp>
        <p:nvSpPr>
          <p:cNvPr id="3" name="Content Placeholder 2"/>
          <p:cNvSpPr>
            <a:spLocks noGrp="1"/>
          </p:cNvSpPr>
          <p:nvPr>
            <p:ph idx="1"/>
          </p:nvPr>
        </p:nvSpPr>
        <p:spPr>
          <a:xfrm>
            <a:off x="305938" y="876961"/>
            <a:ext cx="11472080" cy="4858603"/>
          </a:xfrm>
        </p:spPr>
        <p:txBody>
          <a:bodyPr/>
          <a:lstStyle/>
          <a:p>
            <a:r>
              <a:rPr lang="en-US" dirty="0"/>
              <a:t>Both sampling and quantization result in the loss of information. The quality of a </a:t>
            </a:r>
            <a:r>
              <a:rPr lang="en-US" dirty="0" err="1"/>
              <a:t>Quantizer</a:t>
            </a:r>
            <a:r>
              <a:rPr lang="en-US" dirty="0"/>
              <a:t> output depends </a:t>
            </a:r>
            <a:r>
              <a:rPr lang="en-US" dirty="0">
                <a:solidFill>
                  <a:srgbClr val="C00000"/>
                </a:solidFill>
              </a:rPr>
              <a:t>upon the number of quantization levels </a:t>
            </a:r>
            <a:r>
              <a:rPr lang="en-US" dirty="0"/>
              <a:t>used.</a:t>
            </a:r>
          </a:p>
          <a:p>
            <a:r>
              <a:rPr lang="en-US" dirty="0"/>
              <a:t>The difference between an input value and its quantized value is called a </a:t>
            </a:r>
            <a:r>
              <a:rPr lang="en-US" b="1" dirty="0"/>
              <a:t>Quantization Error</a:t>
            </a:r>
            <a:r>
              <a:rPr lang="en-US" dirty="0"/>
              <a:t>.</a:t>
            </a:r>
          </a:p>
        </p:txBody>
      </p:sp>
      <p:sp>
        <p:nvSpPr>
          <p:cNvPr id="4" name="Slide Number Placeholder 3"/>
          <p:cNvSpPr>
            <a:spLocks noGrp="1"/>
          </p:cNvSpPr>
          <p:nvPr>
            <p:ph type="sldNum" sz="quarter" idx="12"/>
          </p:nvPr>
        </p:nvSpPr>
        <p:spPr/>
        <p:txBody>
          <a:bodyPr/>
          <a:lstStyle/>
          <a:p>
            <a:fld id="{EDC71E4A-9E9F-42E1-B77A-6A35EBD048CE}" type="slidenum">
              <a:rPr lang="en-US" smtClean="0"/>
              <a:t>19</a:t>
            </a:fld>
            <a:endParaRPr lang="en-US"/>
          </a:p>
        </p:txBody>
      </p:sp>
    </p:spTree>
    <p:extLst>
      <p:ext uri="{BB962C8B-B14F-4D97-AF65-F5344CB8AC3E}">
        <p14:creationId xmlns:p14="http://schemas.microsoft.com/office/powerpoint/2010/main" val="4167182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9613" y="714295"/>
            <a:ext cx="3745174" cy="1325563"/>
          </a:xfrm>
        </p:spPr>
        <p:txBody>
          <a:bodyPr>
            <a:normAutofit fontScale="90000"/>
          </a:bodyPr>
          <a:lstStyle/>
          <a:p>
            <a:r>
              <a:rPr lang="en-US" sz="3600" dirty="0">
                <a:solidFill>
                  <a:srgbClr val="C00000"/>
                </a:solidFill>
                <a:latin typeface="Arial" panose="020B0604020202020204" pitchFamily="34" charset="0"/>
                <a:cs typeface="Arial" panose="020B0604020202020204" pitchFamily="34" charset="0"/>
              </a:rPr>
              <a:t>2-bit resolution with four levels </a:t>
            </a:r>
            <a:r>
              <a:rPr lang="en-US" sz="3600" dirty="0">
                <a:latin typeface="Arial" panose="020B0604020202020204" pitchFamily="34" charset="0"/>
                <a:cs typeface="Arial" panose="020B0604020202020204" pitchFamily="34" charset="0"/>
              </a:rPr>
              <a:t>of quantization</a:t>
            </a:r>
            <a:endParaRPr lang="en-GB" sz="36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EDC71E4A-9E9F-42E1-B77A-6A35EBD048CE}" type="slidenum">
              <a:rPr lang="en-US" smtClean="0"/>
              <a:t>20</a:t>
            </a:fld>
            <a:endParaRPr lang="en-US"/>
          </a:p>
        </p:txBody>
      </p:sp>
      <p:pic>
        <p:nvPicPr>
          <p:cNvPr id="5" name="Picture 4"/>
          <p:cNvPicPr>
            <a:picLocks noChangeAspect="1"/>
          </p:cNvPicPr>
          <p:nvPr/>
        </p:nvPicPr>
        <p:blipFill>
          <a:blip r:embed="rId2"/>
          <a:stretch>
            <a:fillRect/>
          </a:stretch>
        </p:blipFill>
        <p:spPr>
          <a:xfrm>
            <a:off x="219561" y="386900"/>
            <a:ext cx="7997713" cy="5790063"/>
          </a:xfrm>
          <a:prstGeom prst="rect">
            <a:avLst/>
          </a:prstGeom>
        </p:spPr>
      </p:pic>
      <p:sp>
        <p:nvSpPr>
          <p:cNvPr id="6" name="TextBox 5"/>
          <p:cNvSpPr txBox="1"/>
          <p:nvPr/>
        </p:nvSpPr>
        <p:spPr>
          <a:xfrm>
            <a:off x="8217274" y="5018378"/>
            <a:ext cx="3426481" cy="1015663"/>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Red</a:t>
            </a:r>
            <a:r>
              <a:rPr lang="en-US" sz="2000" dirty="0">
                <a:latin typeface="Arial" panose="020B0604020202020204" pitchFamily="34" charset="0"/>
                <a:cs typeface="Arial" panose="020B0604020202020204" pitchFamily="34" charset="0"/>
              </a:rPr>
              <a:t> line: Actual signal</a:t>
            </a:r>
          </a:p>
          <a:p>
            <a:r>
              <a:rPr lang="en-US" sz="2000" dirty="0">
                <a:solidFill>
                  <a:srgbClr val="0000FF"/>
                </a:solidFill>
                <a:latin typeface="Arial" panose="020B0604020202020204" pitchFamily="34" charset="0"/>
                <a:cs typeface="Arial" panose="020B0604020202020204" pitchFamily="34" charset="0"/>
              </a:rPr>
              <a:t>Blue</a:t>
            </a:r>
            <a:r>
              <a:rPr lang="en-US" sz="2000" dirty="0">
                <a:latin typeface="Arial" panose="020B0604020202020204" pitchFamily="34" charset="0"/>
                <a:cs typeface="Arial" panose="020B0604020202020204" pitchFamily="34" charset="0"/>
              </a:rPr>
              <a:t> line: Re-constructed signal </a:t>
            </a:r>
          </a:p>
        </p:txBody>
      </p:sp>
    </p:spTree>
    <p:extLst>
      <p:ext uri="{BB962C8B-B14F-4D97-AF65-F5344CB8AC3E}">
        <p14:creationId xmlns:p14="http://schemas.microsoft.com/office/powerpoint/2010/main" val="218321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dirty="0"/>
          </a:p>
        </p:txBody>
      </p:sp>
      <p:sp>
        <p:nvSpPr>
          <p:cNvPr id="4" name="Slide Number Placeholder 3"/>
          <p:cNvSpPr>
            <a:spLocks noGrp="1"/>
          </p:cNvSpPr>
          <p:nvPr>
            <p:ph type="sldNum" sz="quarter" idx="12"/>
          </p:nvPr>
        </p:nvSpPr>
        <p:spPr/>
        <p:txBody>
          <a:bodyPr/>
          <a:lstStyle/>
          <a:p>
            <a:fld id="{EDC71E4A-9E9F-42E1-B77A-6A35EBD048CE}" type="slidenum">
              <a:rPr lang="en-US" smtClean="0"/>
              <a:t>21</a:t>
            </a:fld>
            <a:endParaRPr lang="en-US"/>
          </a:p>
        </p:txBody>
      </p:sp>
      <p:pic>
        <p:nvPicPr>
          <p:cNvPr id="5" name="Picture 4"/>
          <p:cNvPicPr>
            <a:picLocks noChangeAspect="1"/>
          </p:cNvPicPr>
          <p:nvPr/>
        </p:nvPicPr>
        <p:blipFill>
          <a:blip r:embed="rId2"/>
          <a:stretch>
            <a:fillRect/>
          </a:stretch>
        </p:blipFill>
        <p:spPr>
          <a:xfrm>
            <a:off x="838199" y="283298"/>
            <a:ext cx="8046493" cy="6757276"/>
          </a:xfrm>
          <a:prstGeom prst="rect">
            <a:avLst/>
          </a:prstGeom>
        </p:spPr>
      </p:pic>
      <p:sp>
        <p:nvSpPr>
          <p:cNvPr id="6" name="Title 1"/>
          <p:cNvSpPr txBox="1">
            <a:spLocks/>
          </p:cNvSpPr>
          <p:nvPr/>
        </p:nvSpPr>
        <p:spPr>
          <a:xfrm>
            <a:off x="8488907" y="446952"/>
            <a:ext cx="3548173"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C00000"/>
                </a:solidFill>
              </a:rPr>
              <a:t>3-bit resolution with eight levels </a:t>
            </a:r>
            <a:r>
              <a:rPr lang="en-US" sz="3200" dirty="0"/>
              <a:t>of quantization</a:t>
            </a:r>
          </a:p>
        </p:txBody>
      </p:sp>
      <p:sp>
        <p:nvSpPr>
          <p:cNvPr id="7" name="TextBox 6"/>
          <p:cNvSpPr txBox="1"/>
          <p:nvPr/>
        </p:nvSpPr>
        <p:spPr>
          <a:xfrm>
            <a:off x="8610600" y="4499763"/>
            <a:ext cx="3426481" cy="1015663"/>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Red</a:t>
            </a:r>
            <a:r>
              <a:rPr lang="en-US" sz="2000" dirty="0">
                <a:latin typeface="Arial" panose="020B0604020202020204" pitchFamily="34" charset="0"/>
                <a:cs typeface="Arial" panose="020B0604020202020204" pitchFamily="34" charset="0"/>
              </a:rPr>
              <a:t> line: Actual signal</a:t>
            </a:r>
          </a:p>
          <a:p>
            <a:r>
              <a:rPr lang="en-US" sz="2000" dirty="0">
                <a:solidFill>
                  <a:srgbClr val="0000FF"/>
                </a:solidFill>
                <a:latin typeface="Arial" panose="020B0604020202020204" pitchFamily="34" charset="0"/>
                <a:cs typeface="Arial" panose="020B0604020202020204" pitchFamily="34" charset="0"/>
              </a:rPr>
              <a:t>Blue</a:t>
            </a:r>
            <a:r>
              <a:rPr lang="en-US" sz="2000" dirty="0">
                <a:latin typeface="Arial" panose="020B0604020202020204" pitchFamily="34" charset="0"/>
                <a:cs typeface="Arial" panose="020B0604020202020204" pitchFamily="34" charset="0"/>
              </a:rPr>
              <a:t> line: Re-constructed signal </a:t>
            </a:r>
          </a:p>
        </p:txBody>
      </p:sp>
    </p:spTree>
    <p:extLst>
      <p:ext uri="{BB962C8B-B14F-4D97-AF65-F5344CB8AC3E}">
        <p14:creationId xmlns:p14="http://schemas.microsoft.com/office/powerpoint/2010/main" val="1178633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672" y="365125"/>
            <a:ext cx="11163868" cy="672105"/>
          </a:xfrm>
        </p:spPr>
        <p:txBody>
          <a:bodyPr>
            <a:noAutofit/>
          </a:bodyPr>
          <a:lstStyle/>
          <a:p>
            <a:r>
              <a:rPr lang="en-US" dirty="0"/>
              <a:t>C. Encoding</a:t>
            </a:r>
          </a:p>
        </p:txBody>
      </p:sp>
      <p:sp>
        <p:nvSpPr>
          <p:cNvPr id="3" name="Content Placeholder 2"/>
          <p:cNvSpPr>
            <a:spLocks noGrp="1"/>
          </p:cNvSpPr>
          <p:nvPr>
            <p:ph idx="1"/>
          </p:nvPr>
        </p:nvSpPr>
        <p:spPr>
          <a:xfrm>
            <a:off x="477672" y="1037230"/>
            <a:ext cx="11163868" cy="5139733"/>
          </a:xfrm>
        </p:spPr>
        <p:txBody>
          <a:bodyPr/>
          <a:lstStyle/>
          <a:p>
            <a:r>
              <a:rPr lang="en-US" dirty="0"/>
              <a:t>After the quantization process, the corresponding level is represented using binary numbers.</a:t>
            </a:r>
          </a:p>
        </p:txBody>
      </p:sp>
      <p:sp>
        <p:nvSpPr>
          <p:cNvPr id="4" name="Slide Number Placeholder 3"/>
          <p:cNvSpPr>
            <a:spLocks noGrp="1"/>
          </p:cNvSpPr>
          <p:nvPr>
            <p:ph type="sldNum" sz="quarter" idx="12"/>
          </p:nvPr>
        </p:nvSpPr>
        <p:spPr/>
        <p:txBody>
          <a:bodyPr/>
          <a:lstStyle/>
          <a:p>
            <a:fld id="{EDC71E4A-9E9F-42E1-B77A-6A35EBD048CE}" type="slidenum">
              <a:rPr lang="en-US" smtClean="0"/>
              <a:t>22</a:t>
            </a:fld>
            <a:endParaRPr lang="en-US"/>
          </a:p>
        </p:txBody>
      </p:sp>
      <p:pic>
        <p:nvPicPr>
          <p:cNvPr id="5" name="Picture 4"/>
          <p:cNvPicPr>
            <a:picLocks noChangeAspect="1"/>
          </p:cNvPicPr>
          <p:nvPr/>
        </p:nvPicPr>
        <p:blipFill>
          <a:blip r:embed="rId2"/>
          <a:stretch>
            <a:fillRect/>
          </a:stretch>
        </p:blipFill>
        <p:spPr>
          <a:xfrm>
            <a:off x="477672" y="1869193"/>
            <a:ext cx="6702373" cy="4852282"/>
          </a:xfrm>
          <a:prstGeom prst="rect">
            <a:avLst/>
          </a:prstGeom>
        </p:spPr>
      </p:pic>
      <p:sp>
        <p:nvSpPr>
          <p:cNvPr id="6" name="TextBox 5"/>
          <p:cNvSpPr txBox="1"/>
          <p:nvPr/>
        </p:nvSpPr>
        <p:spPr>
          <a:xfrm>
            <a:off x="7451678" y="2115403"/>
            <a:ext cx="4189861" cy="830997"/>
          </a:xfrm>
          <a:prstGeom prst="rect">
            <a:avLst/>
          </a:prstGeom>
          <a:noFill/>
        </p:spPr>
        <p:txBody>
          <a:bodyPr wrap="square" rtlCol="0">
            <a:spAutoFit/>
          </a:bodyPr>
          <a:lstStyle/>
          <a:p>
            <a:r>
              <a:rPr lang="en-US" sz="2400" dirty="0"/>
              <a:t>Encoded result: 10, 11, 11, 10,                        01, 00, 00, 01</a:t>
            </a:r>
          </a:p>
        </p:txBody>
      </p:sp>
    </p:spTree>
    <p:extLst>
      <p:ext uri="{BB962C8B-B14F-4D97-AF65-F5344CB8AC3E}">
        <p14:creationId xmlns:p14="http://schemas.microsoft.com/office/powerpoint/2010/main" val="3729004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sp>
        <p:nvSpPr>
          <p:cNvPr id="4" name="Slide Number Placeholder 3"/>
          <p:cNvSpPr>
            <a:spLocks noGrp="1"/>
          </p:cNvSpPr>
          <p:nvPr>
            <p:ph type="sldNum" sz="quarter" idx="12"/>
          </p:nvPr>
        </p:nvSpPr>
        <p:spPr/>
        <p:txBody>
          <a:bodyPr/>
          <a:lstStyle/>
          <a:p>
            <a:fld id="{EDC71E4A-9E9F-42E1-B77A-6A35EBD048CE}" type="slidenum">
              <a:rPr lang="en-US" smtClean="0"/>
              <a:t>23</a:t>
            </a:fld>
            <a:endParaRPr lang="en-US"/>
          </a:p>
        </p:txBody>
      </p:sp>
      <p:pic>
        <p:nvPicPr>
          <p:cNvPr id="5" name="Picture 4"/>
          <p:cNvPicPr>
            <a:picLocks noChangeAspect="1"/>
          </p:cNvPicPr>
          <p:nvPr/>
        </p:nvPicPr>
        <p:blipFill>
          <a:blip r:embed="rId2"/>
          <a:stretch>
            <a:fillRect/>
          </a:stretch>
        </p:blipFill>
        <p:spPr>
          <a:xfrm>
            <a:off x="624386" y="0"/>
            <a:ext cx="8702722" cy="6756272"/>
          </a:xfrm>
          <a:prstGeom prst="rect">
            <a:avLst/>
          </a:prstGeom>
        </p:spPr>
      </p:pic>
      <p:sp>
        <p:nvSpPr>
          <p:cNvPr id="6" name="TextBox 5"/>
          <p:cNvSpPr txBox="1"/>
          <p:nvPr/>
        </p:nvSpPr>
        <p:spPr>
          <a:xfrm>
            <a:off x="9435151" y="4666124"/>
            <a:ext cx="2132463" cy="1200329"/>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Analog pins of Arduino board</a:t>
            </a:r>
          </a:p>
        </p:txBody>
      </p:sp>
    </p:spTree>
    <p:extLst>
      <p:ext uri="{BB962C8B-B14F-4D97-AF65-F5344CB8AC3E}">
        <p14:creationId xmlns:p14="http://schemas.microsoft.com/office/powerpoint/2010/main" val="1631029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7812" y="642073"/>
            <a:ext cx="11425943" cy="5435174"/>
          </a:xfrm>
        </p:spPr>
      </p:pic>
      <p:sp>
        <p:nvSpPr>
          <p:cNvPr id="4" name="Slide Number Placeholder 3"/>
          <p:cNvSpPr>
            <a:spLocks noGrp="1"/>
          </p:cNvSpPr>
          <p:nvPr>
            <p:ph type="sldNum" sz="quarter" idx="12"/>
          </p:nvPr>
        </p:nvSpPr>
        <p:spPr/>
        <p:txBody>
          <a:bodyPr/>
          <a:lstStyle/>
          <a:p>
            <a:fld id="{EDC71E4A-9E9F-42E1-B77A-6A35EBD048CE}" type="slidenum">
              <a:rPr lang="en-US" smtClean="0"/>
              <a:t>24</a:t>
            </a:fld>
            <a:endParaRPr lang="en-US"/>
          </a:p>
        </p:txBody>
      </p:sp>
      <p:sp>
        <p:nvSpPr>
          <p:cNvPr id="8" name="TextBox 7"/>
          <p:cNvSpPr txBox="1"/>
          <p:nvPr/>
        </p:nvSpPr>
        <p:spPr>
          <a:xfrm>
            <a:off x="4549253" y="6077247"/>
            <a:ext cx="520889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Arduino interfacing with LDR</a:t>
            </a:r>
          </a:p>
        </p:txBody>
      </p:sp>
      <p:pic>
        <p:nvPicPr>
          <p:cNvPr id="3" name="WWmz9giD4ZY"/>
          <p:cNvPicPr>
            <a:picLocks noRot="1" noChangeAspect="1"/>
          </p:cNvPicPr>
          <p:nvPr>
            <a:videoFile r:link="rId1"/>
          </p:nvPr>
        </p:nvPicPr>
        <p:blipFill>
          <a:blip r:embed="rId5"/>
          <a:stretch>
            <a:fillRect/>
          </a:stretch>
        </p:blipFill>
        <p:spPr>
          <a:xfrm>
            <a:off x="8495755" y="459510"/>
            <a:ext cx="3657863" cy="2057548"/>
          </a:xfrm>
          <a:prstGeom prst="rect">
            <a:avLst/>
          </a:prstGeom>
        </p:spPr>
      </p:pic>
    </p:spTree>
    <p:extLst>
      <p:ext uri="{BB962C8B-B14F-4D97-AF65-F5344CB8AC3E}">
        <p14:creationId xmlns:p14="http://schemas.microsoft.com/office/powerpoint/2010/main" val="2489281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603" y="365126"/>
            <a:ext cx="11546005" cy="645140"/>
          </a:xfrm>
        </p:spPr>
        <p:txBody>
          <a:bodyPr>
            <a:normAutofit fontScale="90000"/>
          </a:bodyPr>
          <a:lstStyle/>
          <a:p>
            <a:r>
              <a:rPr lang="en-US" dirty="0"/>
              <a:t>Analog to digital conversion</a:t>
            </a:r>
          </a:p>
        </p:txBody>
      </p:sp>
      <p:sp>
        <p:nvSpPr>
          <p:cNvPr id="3" name="Content Placeholder 2"/>
          <p:cNvSpPr>
            <a:spLocks noGrp="1"/>
          </p:cNvSpPr>
          <p:nvPr>
            <p:ph idx="1"/>
          </p:nvPr>
        </p:nvSpPr>
        <p:spPr>
          <a:xfrm>
            <a:off x="391803" y="1010266"/>
            <a:ext cx="11335603" cy="4643413"/>
          </a:xfrm>
        </p:spPr>
        <p:txBody>
          <a:bodyPr>
            <a:normAutofit lnSpcReduction="10000"/>
          </a:bodyPr>
          <a:lstStyle/>
          <a:p>
            <a:r>
              <a:rPr lang="en-GB" dirty="0"/>
              <a:t>Microcontrollers are capable of detecting binary signals: </a:t>
            </a:r>
            <a:r>
              <a:rPr lang="en-GB" dirty="0">
                <a:solidFill>
                  <a:srgbClr val="7030A0"/>
                </a:solidFill>
              </a:rPr>
              <a:t>is the button pressed or not</a:t>
            </a:r>
            <a:r>
              <a:rPr lang="en-GB" dirty="0"/>
              <a:t>? These are digital signals. When a microcontroller is powered from five volts, it understands zero volts (0V) as a binary 0 and a five volts (5V) as a binary 1.</a:t>
            </a:r>
          </a:p>
          <a:p>
            <a:r>
              <a:rPr lang="en-GB" dirty="0"/>
              <a:t> What if the signal is 2.72V? Is that a zero or a one? We often need to measure signals that vary; these are called analog signals.</a:t>
            </a:r>
            <a:endParaRPr lang="en-US" dirty="0"/>
          </a:p>
          <a:p>
            <a:r>
              <a:rPr lang="en-US" dirty="0"/>
              <a:t>An </a:t>
            </a:r>
            <a:r>
              <a:rPr lang="en-US" dirty="0">
                <a:solidFill>
                  <a:srgbClr val="C00000"/>
                </a:solidFill>
              </a:rPr>
              <a:t>Analog to Digital Converter (ADC) </a:t>
            </a:r>
            <a:r>
              <a:rPr lang="en-US" dirty="0"/>
              <a:t>is a very useful feature that converts an analog voltage on a pin to a digital number. </a:t>
            </a:r>
          </a:p>
          <a:p>
            <a:r>
              <a:rPr lang="en-US" dirty="0"/>
              <a:t>All microcontrollers have a </a:t>
            </a:r>
            <a:r>
              <a:rPr lang="en-US" dirty="0">
                <a:solidFill>
                  <a:srgbClr val="C00000"/>
                </a:solidFill>
              </a:rPr>
              <a:t>analog to digital converter(ADC) </a:t>
            </a:r>
            <a:r>
              <a:rPr lang="en-US" dirty="0"/>
              <a:t>built into them that allows us to convert these voltages into values that we can use in a program.</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25</a:t>
            </a:fld>
            <a:endParaRPr lang="en-US"/>
          </a:p>
        </p:txBody>
      </p:sp>
    </p:spTree>
    <p:extLst>
      <p:ext uri="{BB962C8B-B14F-4D97-AF65-F5344CB8AC3E}">
        <p14:creationId xmlns:p14="http://schemas.microsoft.com/office/powerpoint/2010/main" val="3500593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836" y="218576"/>
            <a:ext cx="10515600" cy="967357"/>
          </a:xfrm>
        </p:spPr>
        <p:txBody>
          <a:bodyPr/>
          <a:lstStyle/>
          <a:p>
            <a:r>
              <a:rPr lang="en-US" dirty="0"/>
              <a:t>Analog to digital conversion</a:t>
            </a:r>
          </a:p>
        </p:txBody>
      </p:sp>
      <p:sp>
        <p:nvSpPr>
          <p:cNvPr id="3" name="Content Placeholder 2"/>
          <p:cNvSpPr>
            <a:spLocks noGrp="1"/>
          </p:cNvSpPr>
          <p:nvPr>
            <p:ph idx="1"/>
          </p:nvPr>
        </p:nvSpPr>
        <p:spPr>
          <a:xfrm>
            <a:off x="401471" y="952168"/>
            <a:ext cx="11335603" cy="4643413"/>
          </a:xfrm>
        </p:spPr>
        <p:txBody>
          <a:bodyPr>
            <a:normAutofit/>
          </a:bodyPr>
          <a:lstStyle/>
          <a:p>
            <a:r>
              <a:rPr lang="en-GB" dirty="0"/>
              <a:t>ADCs can vary greatly between microcontroller. </a:t>
            </a:r>
          </a:p>
          <a:p>
            <a:r>
              <a:rPr lang="en-GB" dirty="0"/>
              <a:t>The ADC on the Arduino is a </a:t>
            </a:r>
            <a:r>
              <a:rPr lang="en-GB" u="sng" dirty="0"/>
              <a:t>10-bit ADC meaning it has the ability to detect 1,024 (2</a:t>
            </a:r>
            <a:r>
              <a:rPr lang="en-GB" u="sng" baseline="30000" dirty="0"/>
              <a:t>10</a:t>
            </a:r>
            <a:r>
              <a:rPr lang="en-GB" u="sng" dirty="0"/>
              <a:t>) discrete analog levels</a:t>
            </a:r>
            <a:r>
              <a:rPr lang="en-GB" dirty="0"/>
              <a:t>. Some microcontrollers have 8-bit ADCs (2</a:t>
            </a:r>
            <a:r>
              <a:rPr lang="en-GB" baseline="30000" dirty="0"/>
              <a:t>8</a:t>
            </a:r>
            <a:r>
              <a:rPr lang="en-GB" dirty="0"/>
              <a:t> = 256 discrete levels) and some have 16-bit ADCs (2</a:t>
            </a:r>
            <a:r>
              <a:rPr lang="en-GB" baseline="30000" dirty="0"/>
              <a:t>16</a:t>
            </a:r>
            <a:r>
              <a:rPr lang="en-GB" dirty="0"/>
              <a:t> = 65,535 discrete levels).</a:t>
            </a:r>
          </a:p>
          <a:p>
            <a:r>
              <a:rPr lang="en-US" dirty="0"/>
              <a:t>The ADC reports a ratio-metric value. This means that the ADC assumes 5V is 1023 and anything less than 5V will be a ratio between 5V and 1023.</a:t>
            </a:r>
          </a:p>
          <a:p>
            <a:endParaRPr lang="en-US" dirty="0"/>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26</a:t>
            </a:fld>
            <a:endParaRPr lang="en-US"/>
          </a:p>
        </p:txBody>
      </p:sp>
    </p:spTree>
    <p:extLst>
      <p:ext uri="{BB962C8B-B14F-4D97-AF65-F5344CB8AC3E}">
        <p14:creationId xmlns:p14="http://schemas.microsoft.com/office/powerpoint/2010/main" val="1114306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lstStyle/>
          <a:p>
            <a:r>
              <a:rPr lang="en-US" dirty="0"/>
              <a:t>Relating ADC Value to Voltage</a:t>
            </a:r>
          </a:p>
        </p:txBody>
      </p:sp>
      <p:sp>
        <p:nvSpPr>
          <p:cNvPr id="3" name="Content Placeholder 2"/>
          <p:cNvSpPr>
            <a:spLocks noGrp="1"/>
          </p:cNvSpPr>
          <p:nvPr>
            <p:ph idx="1"/>
          </p:nvPr>
        </p:nvSpPr>
        <p:spPr>
          <a:xfrm>
            <a:off x="510654" y="1054777"/>
            <a:ext cx="10515600" cy="4351338"/>
          </a:xfrm>
        </p:spPr>
        <p:txBody>
          <a:bodyPr/>
          <a:lstStyle/>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27</a:t>
            </a:fld>
            <a:endParaRPr lang="en-US"/>
          </a:p>
        </p:txBody>
      </p:sp>
      <mc:AlternateContent xmlns:mc="http://schemas.openxmlformats.org/markup-compatibility/2006" xmlns:a14="http://schemas.microsoft.com/office/drawing/2010/main">
        <mc:Choice Requires="a14">
          <p:sp>
            <p:nvSpPr>
              <p:cNvPr id="5" name="Rectangle 4"/>
              <p:cNvSpPr/>
              <p:nvPr/>
            </p:nvSpPr>
            <p:spPr>
              <a:xfrm>
                <a:off x="1233055" y="2382981"/>
                <a:ext cx="10529453" cy="1022396"/>
              </a:xfrm>
              <a:prstGeom prst="rect">
                <a:avLst/>
              </a:prstGeom>
            </p:spPr>
            <p:txBody>
              <a:bodyPr wrap="square">
                <a:spAutoFit/>
              </a:bodyPr>
              <a:lstStyle/>
              <a:p>
                <a:pPr>
                  <a:lnSpc>
                    <a:spcPct val="107000"/>
                  </a:lnSpc>
                  <a:spcAft>
                    <a:spcPts val="800"/>
                  </a:spcAft>
                </a:pPr>
                <a14:m>
                  <m:oMath xmlns:m="http://schemas.openxmlformats.org/officeDocument/2006/math">
                    <m:f>
                      <m:fPr>
                        <m:ctrlPr>
                          <a:rPr lang="en-US" sz="3600" i="1">
                            <a:latin typeface="Cambria Math" panose="02040503050406030204" pitchFamily="18" charset="0"/>
                            <a:ea typeface="Calibri" panose="020F0502020204030204" pitchFamily="34" charset="0"/>
                            <a:cs typeface="Arial" panose="020B0604020202020204" pitchFamily="34" charset="0"/>
                          </a:rPr>
                        </m:ctrlPr>
                      </m:fPr>
                      <m:num>
                        <m:r>
                          <a:rPr lang="en-US" sz="3600" i="1">
                            <a:latin typeface="Cambria Math" panose="02040503050406030204" pitchFamily="18" charset="0"/>
                            <a:ea typeface="Calibri" panose="020F0502020204030204" pitchFamily="34" charset="0"/>
                            <a:cs typeface="Arial" panose="020B0604020202020204" pitchFamily="34" charset="0"/>
                          </a:rPr>
                          <m:t>𝑅𝑒𝑠𝑜𝑙𝑢𝑡𝑖𝑜𝑛</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𝑜𝑓</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𝑡h𝑒</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𝐴𝐷𝐶</m:t>
                        </m:r>
                      </m:num>
                      <m:den>
                        <m:r>
                          <a:rPr lang="en-US" sz="3600" i="1">
                            <a:latin typeface="Cambria Math" panose="02040503050406030204" pitchFamily="18" charset="0"/>
                            <a:ea typeface="Calibri" panose="020F0502020204030204" pitchFamily="34" charset="0"/>
                            <a:cs typeface="Arial" panose="020B0604020202020204" pitchFamily="34" charset="0"/>
                          </a:rPr>
                          <m:t>𝑆𝑦𝑠𝑡𝑒𝑚</m:t>
                        </m:r>
                        <m:r>
                          <a:rPr lang="en-US" sz="3600" i="1">
                            <a:latin typeface="Cambria Math" panose="02040503050406030204" pitchFamily="18" charset="0"/>
                            <a:ea typeface="Calibri" panose="020F0502020204030204" pitchFamily="34" charset="0"/>
                            <a:cs typeface="Arial" panose="020B0604020202020204" pitchFamily="34" charset="0"/>
                          </a:rPr>
                          <m:t> </m:t>
                        </m:r>
                        <m:r>
                          <a:rPr lang="en-US" sz="3600" i="1">
                            <a:latin typeface="Cambria Math" panose="02040503050406030204" pitchFamily="18" charset="0"/>
                            <a:ea typeface="Calibri" panose="020F0502020204030204" pitchFamily="34" charset="0"/>
                            <a:cs typeface="Arial" panose="020B0604020202020204" pitchFamily="34" charset="0"/>
                          </a:rPr>
                          <m:t>𝑣𝑜𝑙𝑡𝑎𝑔𝑒</m:t>
                        </m:r>
                      </m:den>
                    </m:f>
                    <m:r>
                      <a:rPr lang="en-US" sz="3600" i="1">
                        <a:latin typeface="Cambria Math" panose="02040503050406030204" pitchFamily="18" charset="0"/>
                        <a:ea typeface="Calibri" panose="020F0502020204030204" pitchFamily="34" charset="0"/>
                        <a:cs typeface="Arial" panose="020B0604020202020204" pitchFamily="34" charset="0"/>
                      </a:rPr>
                      <m:t>     =</m:t>
                    </m:r>
                  </m:oMath>
                </a14:m>
                <a:r>
                  <a:rPr lang="en-US" sz="3600" dirty="0">
                    <a:effectLst/>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3600" i="1">
                            <a:latin typeface="Cambria Math" panose="02040503050406030204" pitchFamily="18" charset="0"/>
                            <a:ea typeface="Times New Roman" panose="02020603050405020304" pitchFamily="18" charset="0"/>
                            <a:cs typeface="Arial" panose="020B0604020202020204" pitchFamily="34" charset="0"/>
                          </a:rPr>
                        </m:ctrlPr>
                      </m:fPr>
                      <m:num>
                        <m:r>
                          <a:rPr lang="en-US" sz="3600" i="1">
                            <a:latin typeface="Cambria Math" panose="02040503050406030204" pitchFamily="18" charset="0"/>
                            <a:ea typeface="Times New Roman" panose="02020603050405020304" pitchFamily="18" charset="0"/>
                            <a:cs typeface="Arial" panose="020B0604020202020204" pitchFamily="34" charset="0"/>
                          </a:rPr>
                          <m:t>𝐴𝐷𝐶</m:t>
                        </m:r>
                        <m:r>
                          <a:rPr lang="en-US" sz="3600" i="1">
                            <a:latin typeface="Cambria Math" panose="02040503050406030204" pitchFamily="18" charset="0"/>
                            <a:ea typeface="Times New Roman" panose="02020603050405020304" pitchFamily="18" charset="0"/>
                            <a:cs typeface="Arial" panose="020B0604020202020204" pitchFamily="34" charset="0"/>
                          </a:rPr>
                          <m:t> </m:t>
                        </m:r>
                        <m:r>
                          <a:rPr lang="en-US" sz="3600" i="1">
                            <a:latin typeface="Cambria Math" panose="02040503050406030204" pitchFamily="18" charset="0"/>
                            <a:ea typeface="Times New Roman" panose="02020603050405020304" pitchFamily="18" charset="0"/>
                            <a:cs typeface="Arial" panose="020B0604020202020204" pitchFamily="34" charset="0"/>
                          </a:rPr>
                          <m:t>𝑟𝑒𝑎𝑑𝑖𝑛𝑔</m:t>
                        </m:r>
                      </m:num>
                      <m:den>
                        <m:r>
                          <a:rPr lang="en-US" sz="3600" i="1">
                            <a:latin typeface="Cambria Math" panose="02040503050406030204" pitchFamily="18" charset="0"/>
                            <a:ea typeface="Times New Roman" panose="02020603050405020304" pitchFamily="18" charset="0"/>
                            <a:cs typeface="Arial" panose="020B0604020202020204" pitchFamily="34" charset="0"/>
                          </a:rPr>
                          <m:t>𝐴𝑛𝑎𝑙𝑜𝑔</m:t>
                        </m:r>
                        <m:r>
                          <a:rPr lang="en-US" sz="3600" i="1">
                            <a:latin typeface="Cambria Math" panose="02040503050406030204" pitchFamily="18" charset="0"/>
                            <a:ea typeface="Times New Roman" panose="02020603050405020304" pitchFamily="18" charset="0"/>
                            <a:cs typeface="Arial" panose="020B0604020202020204" pitchFamily="34" charset="0"/>
                          </a:rPr>
                          <m:t> </m:t>
                        </m:r>
                        <m:r>
                          <a:rPr lang="en-US" sz="3600" i="1">
                            <a:latin typeface="Cambria Math" panose="02040503050406030204" pitchFamily="18" charset="0"/>
                            <a:ea typeface="Times New Roman" panose="02020603050405020304" pitchFamily="18" charset="0"/>
                            <a:cs typeface="Arial" panose="020B0604020202020204" pitchFamily="34" charset="0"/>
                          </a:rPr>
                          <m:t>𝑣𝑜𝑙𝑡𝑎𝑔𝑒</m:t>
                        </m:r>
                        <m:r>
                          <a:rPr lang="en-US" sz="3600" i="1">
                            <a:latin typeface="Cambria Math" panose="02040503050406030204" pitchFamily="18" charset="0"/>
                            <a:ea typeface="Times New Roman" panose="02020603050405020304" pitchFamily="18" charset="0"/>
                            <a:cs typeface="Arial" panose="020B0604020202020204" pitchFamily="34" charset="0"/>
                          </a:rPr>
                          <m:t> </m:t>
                        </m:r>
                        <m:r>
                          <a:rPr lang="en-US" sz="3600" i="1">
                            <a:latin typeface="Cambria Math" panose="02040503050406030204" pitchFamily="18" charset="0"/>
                            <a:ea typeface="Times New Roman" panose="02020603050405020304" pitchFamily="18" charset="0"/>
                            <a:cs typeface="Arial" panose="020B0604020202020204" pitchFamily="34" charset="0"/>
                          </a:rPr>
                          <m:t>𝑚𝑒𝑎𝑠𝑢𝑟𝑒𝑑</m:t>
                        </m:r>
                      </m:den>
                    </m:f>
                  </m:oMath>
                </a14:m>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233055" y="2382981"/>
                <a:ext cx="10529453" cy="102239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1965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287"/>
          </a:xfrm>
        </p:spPr>
        <p:txBody>
          <a:bodyPr/>
          <a:lstStyle/>
          <a:p>
            <a:r>
              <a:rPr lang="en-US" dirty="0"/>
              <a:t>Question</a:t>
            </a:r>
          </a:p>
        </p:txBody>
      </p:sp>
      <p:sp>
        <p:nvSpPr>
          <p:cNvPr id="3" name="Content Placeholder 2"/>
          <p:cNvSpPr>
            <a:spLocks noGrp="1"/>
          </p:cNvSpPr>
          <p:nvPr>
            <p:ph idx="1"/>
          </p:nvPr>
        </p:nvSpPr>
        <p:spPr>
          <a:xfrm>
            <a:off x="736979" y="1146412"/>
            <a:ext cx="10972800" cy="5030551"/>
          </a:xfrm>
        </p:spPr>
        <p:txBody>
          <a:bodyPr/>
          <a:lstStyle/>
          <a:p>
            <a:pPr marL="0" indent="0">
              <a:buNone/>
            </a:pPr>
            <a:r>
              <a:rPr lang="en-US" dirty="0"/>
              <a:t>The 10-bit ADC of the Arduino on a 5V system. If the analog voltage is 2.12V then what will be the ADC report as a value?</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28</a:t>
            </a:fld>
            <a:endParaRPr lang="en-US"/>
          </a:p>
        </p:txBody>
      </p:sp>
    </p:spTree>
    <p:extLst>
      <p:ext uri="{BB962C8B-B14F-4D97-AF65-F5344CB8AC3E}">
        <p14:creationId xmlns:p14="http://schemas.microsoft.com/office/powerpoint/2010/main" val="1406134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Relating ADC Value to Voltage</a:t>
            </a:r>
          </a:p>
        </p:txBody>
      </p:sp>
      <p:sp>
        <p:nvSpPr>
          <p:cNvPr id="4" name="Slide Number Placeholder 3"/>
          <p:cNvSpPr>
            <a:spLocks noGrp="1"/>
          </p:cNvSpPr>
          <p:nvPr>
            <p:ph type="sldNum" sz="quarter" idx="12"/>
          </p:nvPr>
        </p:nvSpPr>
        <p:spPr/>
        <p:txBody>
          <a:bodyPr/>
          <a:lstStyle/>
          <a:p>
            <a:fld id="{EDC71E4A-9E9F-42E1-B77A-6A35EBD048CE}" type="slidenum">
              <a:rPr lang="en-US" smtClean="0"/>
              <a:t>29</a:t>
            </a:fld>
            <a:endParaRPr lang="en-US"/>
          </a:p>
        </p:txBody>
      </p:sp>
      <p:pic>
        <p:nvPicPr>
          <p:cNvPr id="6" name="Content Placeholder 5" descr="alt text">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09687" y="1805781"/>
            <a:ext cx="2257425" cy="733425"/>
          </a:xfrm>
          <a:prstGeom prst="rect">
            <a:avLst/>
          </a:prstGeom>
          <a:noFill/>
          <a:ln>
            <a:noFill/>
          </a:ln>
        </p:spPr>
      </p:pic>
      <p:pic>
        <p:nvPicPr>
          <p:cNvPr id="7" name="Picture 6"/>
          <p:cNvPicPr>
            <a:picLocks noChangeAspect="1"/>
          </p:cNvPicPr>
          <p:nvPr/>
        </p:nvPicPr>
        <p:blipFill>
          <a:blip r:embed="rId4"/>
          <a:stretch>
            <a:fillRect/>
          </a:stretch>
        </p:blipFill>
        <p:spPr>
          <a:xfrm>
            <a:off x="1309687" y="2926144"/>
            <a:ext cx="2761727" cy="731583"/>
          </a:xfrm>
          <a:prstGeom prst="rect">
            <a:avLst/>
          </a:prstGeom>
        </p:spPr>
      </p:pic>
      <p:pic>
        <p:nvPicPr>
          <p:cNvPr id="8" name="Picture 7" descr="alt text">
            <a:hlinkClick r:id="rId5"/>
          </p:cNvPr>
          <p:cNvPicPr/>
          <p:nvPr/>
        </p:nvPicPr>
        <p:blipFill>
          <a:blip r:embed="rId6">
            <a:extLst>
              <a:ext uri="{28A0092B-C50C-407E-A947-70E740481C1C}">
                <a14:useLocalDpi xmlns:a14="http://schemas.microsoft.com/office/drawing/2010/main" val="0"/>
              </a:ext>
            </a:extLst>
          </a:blip>
          <a:srcRect/>
          <a:stretch>
            <a:fillRect/>
          </a:stretch>
        </p:blipFill>
        <p:spPr bwMode="auto">
          <a:xfrm>
            <a:off x="1309687" y="4044665"/>
            <a:ext cx="1143000" cy="247650"/>
          </a:xfrm>
          <a:prstGeom prst="rect">
            <a:avLst/>
          </a:prstGeom>
          <a:noFill/>
          <a:ln>
            <a:noFill/>
          </a:ln>
        </p:spPr>
      </p:pic>
      <p:sp>
        <p:nvSpPr>
          <p:cNvPr id="9" name="Rectangle 8"/>
          <p:cNvSpPr/>
          <p:nvPr/>
        </p:nvSpPr>
        <p:spPr>
          <a:xfrm>
            <a:off x="697315" y="5296227"/>
            <a:ext cx="7904921" cy="830997"/>
          </a:xfrm>
          <a:prstGeom prst="rect">
            <a:avLst/>
          </a:prstGeom>
        </p:spPr>
        <p:txBody>
          <a:bodyPr wrap="none">
            <a:spAutoFit/>
          </a:bodyPr>
          <a:lstStyle/>
          <a:p>
            <a:r>
              <a:rPr lang="en-GB" sz="2400" dirty="0">
                <a:solidFill>
                  <a:srgbClr val="333333"/>
                </a:solidFill>
                <a:effectLst/>
                <a:latin typeface="Times New Roman" panose="02020603050405020304" pitchFamily="18" charset="0"/>
                <a:ea typeface="Times New Roman" panose="02020603050405020304" pitchFamily="18" charset="0"/>
              </a:rPr>
              <a:t>The ADC should report 434. </a:t>
            </a:r>
          </a:p>
          <a:p>
            <a:r>
              <a:rPr lang="en-GB" sz="2400" dirty="0">
                <a:solidFill>
                  <a:srgbClr val="333333"/>
                </a:solidFill>
                <a:latin typeface="Times New Roman" panose="02020603050405020304" pitchFamily="18" charset="0"/>
                <a:ea typeface="Times New Roman" panose="02020603050405020304" pitchFamily="18" charset="0"/>
              </a:rPr>
              <a:t>No fraction value is allowed. Take either floor or celling value</a:t>
            </a:r>
            <a:r>
              <a:rPr lang="en-GB" dirty="0">
                <a:solidFill>
                  <a:srgbClr val="333333"/>
                </a:solidFill>
                <a:latin typeface="Times New Roman" panose="02020603050405020304" pitchFamily="18" charset="0"/>
                <a:ea typeface="Times New Roman" panose="02020603050405020304" pitchFamily="18" charset="0"/>
              </a:rPr>
              <a:t>.</a:t>
            </a:r>
            <a:endParaRPr lang="en-US" dirty="0"/>
          </a:p>
        </p:txBody>
      </p:sp>
    </p:spTree>
    <p:extLst>
      <p:ext uri="{BB962C8B-B14F-4D97-AF65-F5344CB8AC3E}">
        <p14:creationId xmlns:p14="http://schemas.microsoft.com/office/powerpoint/2010/main" val="3081513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0218"/>
          </a:xfrm>
        </p:spPr>
        <p:txBody>
          <a:bodyPr>
            <a:normAutofit fontScale="90000"/>
          </a:bodyPr>
          <a:lstStyle/>
          <a:p>
            <a:r>
              <a:rPr lang="en-US" dirty="0"/>
              <a:t>Digital-to-analog converter (DAC)</a:t>
            </a:r>
          </a:p>
        </p:txBody>
      </p:sp>
      <p:sp>
        <p:nvSpPr>
          <p:cNvPr id="3" name="Content Placeholder 2"/>
          <p:cNvSpPr>
            <a:spLocks noGrp="1"/>
          </p:cNvSpPr>
          <p:nvPr>
            <p:ph idx="1"/>
          </p:nvPr>
        </p:nvSpPr>
        <p:spPr>
          <a:xfrm>
            <a:off x="551597" y="1102293"/>
            <a:ext cx="11403842" cy="4351338"/>
          </a:xfrm>
        </p:spPr>
        <p:txBody>
          <a:bodyPr/>
          <a:lstStyle/>
          <a:p>
            <a:pPr marL="0" indent="0">
              <a:buNone/>
            </a:pPr>
            <a:r>
              <a:rPr lang="en-US" dirty="0"/>
              <a:t>If you were to play your recording back through the speakers, the DAC would perform the same basic steps in reverse. With accurate measurements and a fast sampling rate, the restored analog signal can be nearly identical to the original sound wave.</a:t>
            </a:r>
          </a:p>
        </p:txBody>
      </p:sp>
      <p:sp>
        <p:nvSpPr>
          <p:cNvPr id="4" name="Slide Number Placeholder 3"/>
          <p:cNvSpPr>
            <a:spLocks noGrp="1"/>
          </p:cNvSpPr>
          <p:nvPr>
            <p:ph type="sldNum" sz="quarter" idx="12"/>
          </p:nvPr>
        </p:nvSpPr>
        <p:spPr/>
        <p:txBody>
          <a:bodyPr/>
          <a:lstStyle/>
          <a:p>
            <a:fld id="{EDC71E4A-9E9F-42E1-B77A-6A35EBD048CE}" type="slidenum">
              <a:rPr lang="en-US" smtClean="0"/>
              <a:t>30</a:t>
            </a:fld>
            <a:endParaRPr lang="en-US"/>
          </a:p>
        </p:txBody>
      </p:sp>
      <p:grpSp>
        <p:nvGrpSpPr>
          <p:cNvPr id="8" name="Group 7"/>
          <p:cNvGrpSpPr/>
          <p:nvPr/>
        </p:nvGrpSpPr>
        <p:grpSpPr>
          <a:xfrm>
            <a:off x="384125" y="2951306"/>
            <a:ext cx="7551924" cy="2502325"/>
            <a:chOff x="1878628" y="2843321"/>
            <a:chExt cx="7551924" cy="2502325"/>
          </a:xfrm>
        </p:grpSpPr>
        <p:pic>
          <p:nvPicPr>
            <p:cNvPr id="5" name="Picture 4"/>
            <p:cNvPicPr>
              <a:picLocks noChangeAspect="1"/>
            </p:cNvPicPr>
            <p:nvPr/>
          </p:nvPicPr>
          <p:blipFill>
            <a:blip r:embed="rId3"/>
            <a:stretch>
              <a:fillRect/>
            </a:stretch>
          </p:blipFill>
          <p:spPr>
            <a:xfrm>
              <a:off x="1878628" y="2843321"/>
              <a:ext cx="7551924" cy="2355376"/>
            </a:xfrm>
            <a:prstGeom prst="rect">
              <a:avLst/>
            </a:prstGeom>
          </p:spPr>
        </p:pic>
        <p:sp>
          <p:nvSpPr>
            <p:cNvPr id="6" name="TextBox 5"/>
            <p:cNvSpPr txBox="1"/>
            <p:nvPr/>
          </p:nvSpPr>
          <p:spPr>
            <a:xfrm>
              <a:off x="2770496" y="4883981"/>
              <a:ext cx="306216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Micro-controller</a:t>
              </a:r>
            </a:p>
          </p:txBody>
        </p:sp>
        <p:sp>
          <p:nvSpPr>
            <p:cNvPr id="7" name="TextBox 6"/>
            <p:cNvSpPr txBox="1"/>
            <p:nvPr/>
          </p:nvSpPr>
          <p:spPr>
            <a:xfrm>
              <a:off x="8395907" y="4737032"/>
              <a:ext cx="996287" cy="461665"/>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LED</a:t>
              </a:r>
            </a:p>
          </p:txBody>
        </p:sp>
      </p:grpSp>
      <p:pic>
        <p:nvPicPr>
          <p:cNvPr id="9" name="vDnR2TKdsho"/>
          <p:cNvPicPr>
            <a:picLocks noRot="1" noChangeAspect="1"/>
          </p:cNvPicPr>
          <p:nvPr>
            <a:videoFile r:link="rId1"/>
          </p:nvPr>
        </p:nvPicPr>
        <p:blipFill>
          <a:blip r:embed="rId4"/>
          <a:stretch>
            <a:fillRect/>
          </a:stretch>
        </p:blipFill>
        <p:spPr>
          <a:xfrm>
            <a:off x="8019152" y="2951306"/>
            <a:ext cx="3964431" cy="2229993"/>
          </a:xfrm>
          <a:prstGeom prst="rect">
            <a:avLst/>
          </a:prstGeom>
        </p:spPr>
      </p:pic>
    </p:spTree>
    <p:extLst>
      <p:ext uri="{BB962C8B-B14F-4D97-AF65-F5344CB8AC3E}">
        <p14:creationId xmlns:p14="http://schemas.microsoft.com/office/powerpoint/2010/main" val="4037886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892" y="201353"/>
            <a:ext cx="10515600" cy="713238"/>
          </a:xfrm>
        </p:spPr>
        <p:txBody>
          <a:bodyPr/>
          <a:lstStyle/>
          <a:p>
            <a:r>
              <a:rPr lang="en-US" dirty="0"/>
              <a:t>Digital to analog</a:t>
            </a:r>
          </a:p>
        </p:txBody>
      </p:sp>
      <p:sp>
        <p:nvSpPr>
          <p:cNvPr id="3" name="Content Placeholder 2"/>
          <p:cNvSpPr>
            <a:spLocks noGrp="1"/>
          </p:cNvSpPr>
          <p:nvPr>
            <p:ph idx="1"/>
          </p:nvPr>
        </p:nvSpPr>
        <p:spPr>
          <a:xfrm>
            <a:off x="578892" y="1061349"/>
            <a:ext cx="10994408" cy="5394041"/>
          </a:xfrm>
        </p:spPr>
        <p:txBody>
          <a:bodyPr>
            <a:normAutofit fontScale="92500" lnSpcReduction="10000"/>
          </a:bodyPr>
          <a:lstStyle/>
          <a:p>
            <a:r>
              <a:rPr lang="en-US" sz="3200" dirty="0">
                <a:solidFill>
                  <a:srgbClr val="0000FF"/>
                </a:solidFill>
              </a:rPr>
              <a:t>Pulse Width Modulation</a:t>
            </a:r>
            <a:r>
              <a:rPr lang="en-US" sz="3200" dirty="0"/>
              <a:t>, or PWM, is a technique for getting digital to analog conversion.</a:t>
            </a:r>
          </a:p>
          <a:p>
            <a:r>
              <a:rPr lang="en-US" sz="3200" dirty="0"/>
              <a:t>Digital control is used to create </a:t>
            </a:r>
            <a:r>
              <a:rPr lang="en-US" sz="3200" dirty="0">
                <a:solidFill>
                  <a:srgbClr val="C00000"/>
                </a:solidFill>
              </a:rPr>
              <a:t>a square wave</a:t>
            </a:r>
            <a:r>
              <a:rPr lang="en-US" sz="3200" dirty="0"/>
              <a:t>, </a:t>
            </a:r>
            <a:r>
              <a:rPr lang="en-US" sz="3200" dirty="0">
                <a:solidFill>
                  <a:srgbClr val="7030A0"/>
                </a:solidFill>
              </a:rPr>
              <a:t>a signal switched between on and off.</a:t>
            </a:r>
            <a:r>
              <a:rPr lang="en-US" sz="3200" dirty="0"/>
              <a:t> This </a:t>
            </a:r>
            <a:r>
              <a:rPr lang="en-US" sz="3200" dirty="0">
                <a:solidFill>
                  <a:srgbClr val="C00000"/>
                </a:solidFill>
              </a:rPr>
              <a:t>on-off pattern (duty cycle) </a:t>
            </a:r>
            <a:r>
              <a:rPr lang="en-US" sz="3200" dirty="0"/>
              <a:t>can simulate voltages in between full on (5 Volts) and off (0 Volts) by </a:t>
            </a:r>
            <a:r>
              <a:rPr lang="en-US" sz="3200" dirty="0">
                <a:solidFill>
                  <a:srgbClr val="7030A0"/>
                </a:solidFill>
              </a:rPr>
              <a:t>changing the portion of the time the signal spends on versus the time that the signal spends off</a:t>
            </a:r>
            <a:r>
              <a:rPr lang="en-US" sz="3200" dirty="0"/>
              <a:t>. The duration of "on time" is called the </a:t>
            </a:r>
            <a:r>
              <a:rPr lang="en-US" sz="3200" dirty="0">
                <a:solidFill>
                  <a:srgbClr val="C00000"/>
                </a:solidFill>
              </a:rPr>
              <a:t>pulse width</a:t>
            </a:r>
            <a:r>
              <a:rPr lang="en-US" sz="3200" dirty="0"/>
              <a:t>. </a:t>
            </a:r>
          </a:p>
          <a:p>
            <a:r>
              <a:rPr lang="en-US" sz="3200" dirty="0"/>
              <a:t>To get varying analog values, you change, or modulate, that </a:t>
            </a:r>
            <a:r>
              <a:rPr lang="en-US" sz="3200" dirty="0">
                <a:solidFill>
                  <a:srgbClr val="C00000"/>
                </a:solidFill>
              </a:rPr>
              <a:t>pulse width</a:t>
            </a:r>
            <a:r>
              <a:rPr lang="en-US" sz="3200" dirty="0"/>
              <a:t>. If you repeat this </a:t>
            </a:r>
            <a:r>
              <a:rPr lang="en-US" sz="3200" dirty="0">
                <a:solidFill>
                  <a:srgbClr val="00B050"/>
                </a:solidFill>
              </a:rPr>
              <a:t>on-off pattern </a:t>
            </a:r>
            <a:r>
              <a:rPr lang="en-US" sz="3200" dirty="0"/>
              <a:t>fast enough with an LED for example, the result is as if the signal is a steady voltage between 0 </a:t>
            </a:r>
            <a:r>
              <a:rPr lang="en-US" sz="3200"/>
              <a:t>and 5V </a:t>
            </a:r>
            <a:r>
              <a:rPr lang="en-US" sz="3200" dirty="0"/>
              <a:t>controlling the brightness of the LED.</a:t>
            </a:r>
          </a:p>
          <a:p>
            <a:r>
              <a:rPr lang="en-US" sz="3200" dirty="0"/>
              <a:t>Arduino digital to analog resolution is 8 bit. (0-255)</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31</a:t>
            </a:fld>
            <a:endParaRPr lang="en-US"/>
          </a:p>
        </p:txBody>
      </p:sp>
    </p:spTree>
    <p:extLst>
      <p:ext uri="{BB962C8B-B14F-4D97-AF65-F5344CB8AC3E}">
        <p14:creationId xmlns:p14="http://schemas.microsoft.com/office/powerpoint/2010/main" val="1900346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347" y="365125"/>
            <a:ext cx="10721453" cy="767639"/>
          </a:xfrm>
        </p:spPr>
        <p:txBody>
          <a:bodyPr/>
          <a:lstStyle/>
          <a:p>
            <a:r>
              <a:rPr lang="en-US" dirty="0"/>
              <a:t>Duty Cycle</a:t>
            </a:r>
          </a:p>
        </p:txBody>
      </p:sp>
      <p:sp>
        <p:nvSpPr>
          <p:cNvPr id="3" name="Content Placeholder 2"/>
          <p:cNvSpPr>
            <a:spLocks noGrp="1"/>
          </p:cNvSpPr>
          <p:nvPr>
            <p:ph idx="1"/>
          </p:nvPr>
        </p:nvSpPr>
        <p:spPr>
          <a:xfrm>
            <a:off x="632347" y="1279044"/>
            <a:ext cx="11022841" cy="4351338"/>
          </a:xfrm>
        </p:spPr>
        <p:txBody>
          <a:bodyPr>
            <a:normAutofit/>
          </a:bodyPr>
          <a:lstStyle/>
          <a:p>
            <a:r>
              <a:rPr lang="en-US" dirty="0"/>
              <a:t>A </a:t>
            </a:r>
            <a:r>
              <a:rPr lang="en-US" b="1" dirty="0"/>
              <a:t>duty cycle</a:t>
            </a:r>
            <a:r>
              <a:rPr lang="en-US" dirty="0"/>
              <a:t> is the fraction of one period in which a signal or system is active. </a:t>
            </a:r>
            <a:r>
              <a:rPr lang="en-US" b="1" dirty="0"/>
              <a:t>Duty cycle</a:t>
            </a:r>
            <a:r>
              <a:rPr lang="en-US" dirty="0"/>
              <a:t> is commonly expressed as a percentage or a ratio. A period is the time it takes for a signal to complete an on-and-off </a:t>
            </a:r>
            <a:r>
              <a:rPr lang="en-US" b="1" dirty="0"/>
              <a:t>cycle</a:t>
            </a:r>
            <a:r>
              <a:rPr lang="en-US" dirty="0"/>
              <a:t>.</a:t>
            </a:r>
          </a:p>
        </p:txBody>
      </p:sp>
      <p:sp>
        <p:nvSpPr>
          <p:cNvPr id="4" name="Slide Number Placeholder 3"/>
          <p:cNvSpPr>
            <a:spLocks noGrp="1"/>
          </p:cNvSpPr>
          <p:nvPr>
            <p:ph type="sldNum" sz="quarter" idx="12"/>
          </p:nvPr>
        </p:nvSpPr>
        <p:spPr/>
        <p:txBody>
          <a:bodyPr/>
          <a:lstStyle/>
          <a:p>
            <a:fld id="{EDC71E4A-9E9F-42E1-B77A-6A35EBD048CE}" type="slidenum">
              <a:rPr lang="en-US" smtClean="0"/>
              <a:t>32</a:t>
            </a:fld>
            <a:endParaRPr lang="en-US"/>
          </a:p>
        </p:txBody>
      </p:sp>
    </p:spTree>
    <p:extLst>
      <p:ext uri="{BB962C8B-B14F-4D97-AF65-F5344CB8AC3E}">
        <p14:creationId xmlns:p14="http://schemas.microsoft.com/office/powerpoint/2010/main" val="1997452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Digital to analog</a:t>
            </a:r>
          </a:p>
        </p:txBody>
      </p:sp>
      <p:sp>
        <p:nvSpPr>
          <p:cNvPr id="4" name="Slide Number Placeholder 3"/>
          <p:cNvSpPr>
            <a:spLocks noGrp="1"/>
          </p:cNvSpPr>
          <p:nvPr>
            <p:ph type="sldNum" sz="quarter" idx="12"/>
          </p:nvPr>
        </p:nvSpPr>
        <p:spPr>
          <a:xfrm>
            <a:off x="9144000" y="741493"/>
            <a:ext cx="2743200" cy="365125"/>
          </a:xfrm>
        </p:spPr>
        <p:txBody>
          <a:bodyPr/>
          <a:lstStyle/>
          <a:p>
            <a:fld id="{EDC71E4A-9E9F-42E1-B77A-6A35EBD048CE}" type="slidenum">
              <a:rPr lang="en-US" smtClean="0"/>
              <a:t>33</a:t>
            </a:fld>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89811" y="220383"/>
            <a:ext cx="7234467" cy="5956455"/>
          </a:xfrm>
        </p:spPr>
      </p:pic>
    </p:spTree>
    <p:extLst>
      <p:ext uri="{BB962C8B-B14F-4D97-AF65-F5344CB8AC3E}">
        <p14:creationId xmlns:p14="http://schemas.microsoft.com/office/powerpoint/2010/main" val="751409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Digital to analog</a:t>
            </a:r>
          </a:p>
        </p:txBody>
      </p:sp>
      <p:sp>
        <p:nvSpPr>
          <p:cNvPr id="4" name="Slide Number Placeholder 3"/>
          <p:cNvSpPr>
            <a:spLocks noGrp="1"/>
          </p:cNvSpPr>
          <p:nvPr>
            <p:ph type="sldNum" sz="quarter" idx="12"/>
          </p:nvPr>
        </p:nvSpPr>
        <p:spPr>
          <a:xfrm>
            <a:off x="9144000" y="741493"/>
            <a:ext cx="2743200" cy="365125"/>
          </a:xfrm>
        </p:spPr>
        <p:txBody>
          <a:bodyPr/>
          <a:lstStyle/>
          <a:p>
            <a:fld id="{EDC71E4A-9E9F-42E1-B77A-6A35EBD048CE}" type="slidenum">
              <a:rPr lang="en-US" smtClean="0"/>
              <a:t>34</a:t>
            </a:fld>
            <a:endParaRPr lang="en-US"/>
          </a:p>
        </p:txBody>
      </p:sp>
      <p:pic>
        <p:nvPicPr>
          <p:cNvPr id="5" name="LddxcLSgf-k"/>
          <p:cNvPicPr>
            <a:picLocks noGrp="1" noRot="1" noChangeAspect="1"/>
          </p:cNvPicPr>
          <p:nvPr>
            <p:ph idx="1"/>
            <a:videoFile r:link="rId1"/>
          </p:nvPr>
        </p:nvPicPr>
        <p:blipFill>
          <a:blip r:embed="rId3"/>
          <a:stretch>
            <a:fillRect/>
          </a:stretch>
        </p:blipFill>
        <p:spPr>
          <a:xfrm>
            <a:off x="2373624" y="1598231"/>
            <a:ext cx="6779341" cy="3813379"/>
          </a:xfrm>
          <a:prstGeom prst="rect">
            <a:avLst/>
          </a:prstGeom>
        </p:spPr>
      </p:pic>
    </p:spTree>
    <p:extLst>
      <p:ext uri="{BB962C8B-B14F-4D97-AF65-F5344CB8AC3E}">
        <p14:creationId xmlns:p14="http://schemas.microsoft.com/office/powerpoint/2010/main" val="2447747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756" y="597456"/>
            <a:ext cx="9862782" cy="5287651"/>
          </a:xfrm>
        </p:spPr>
      </p:pic>
      <p:sp>
        <p:nvSpPr>
          <p:cNvPr id="4" name="Slide Number Placeholder 3"/>
          <p:cNvSpPr>
            <a:spLocks noGrp="1"/>
          </p:cNvSpPr>
          <p:nvPr>
            <p:ph type="sldNum" sz="quarter" idx="12"/>
          </p:nvPr>
        </p:nvSpPr>
        <p:spPr/>
        <p:txBody>
          <a:bodyPr/>
          <a:lstStyle/>
          <a:p>
            <a:fld id="{EDC71E4A-9E9F-42E1-B77A-6A35EBD048CE}" type="slidenum">
              <a:rPr lang="en-US" smtClean="0"/>
              <a:t>35</a:t>
            </a:fld>
            <a:endParaRPr lang="en-US"/>
          </a:p>
        </p:txBody>
      </p:sp>
      <p:sp>
        <p:nvSpPr>
          <p:cNvPr id="6" name="TextBox 5"/>
          <p:cNvSpPr txBox="1"/>
          <p:nvPr/>
        </p:nvSpPr>
        <p:spPr>
          <a:xfrm>
            <a:off x="10059537" y="2482483"/>
            <a:ext cx="2132463" cy="1938992"/>
          </a:xfrm>
          <a:prstGeom prst="rect">
            <a:avLst/>
          </a:prstGeom>
          <a:noFill/>
        </p:spPr>
        <p:txBody>
          <a:bodyPr wrap="square" rtlCol="0">
            <a:spAutoFit/>
          </a:bodyPr>
          <a:lstStyle/>
          <a:p>
            <a:r>
              <a:rPr lang="en-US" sz="2400" b="1" dirty="0">
                <a:solidFill>
                  <a:srgbClr val="C00000"/>
                </a:solidFill>
                <a:latin typeface="Arial" panose="020B0604020202020204" pitchFamily="34" charset="0"/>
                <a:cs typeface="Arial" panose="020B0604020202020204" pitchFamily="34" charset="0"/>
              </a:rPr>
              <a:t>PWM supporting digital pins are: 3, 5, 6, 9, 10, 11</a:t>
            </a:r>
          </a:p>
        </p:txBody>
      </p:sp>
    </p:spTree>
    <p:extLst>
      <p:ext uri="{BB962C8B-B14F-4D97-AF65-F5344CB8AC3E}">
        <p14:creationId xmlns:p14="http://schemas.microsoft.com/office/powerpoint/2010/main" val="3335418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In the micro-controller, 12 bit digital to analog (DAC) resolution is set. During the digital to analog conversion programming, you have called “</a:t>
            </a:r>
            <a:r>
              <a:rPr lang="en-US" dirty="0" err="1">
                <a:solidFill>
                  <a:srgbClr val="0000FF"/>
                </a:solidFill>
              </a:rPr>
              <a:t>analogWrite</a:t>
            </a:r>
            <a:r>
              <a:rPr lang="en-US" dirty="0">
                <a:solidFill>
                  <a:srgbClr val="0000FF"/>
                </a:solidFill>
              </a:rPr>
              <a:t> (1024)” </a:t>
            </a:r>
            <a:r>
              <a:rPr lang="en-US" dirty="0"/>
              <a:t>instruction. Calculate the duty cycle. Draw the duty cycle  diagram. Consider system voltage is 5 V.</a:t>
            </a:r>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36</a:t>
            </a:fld>
            <a:endParaRPr lang="en-US"/>
          </a:p>
        </p:txBody>
      </p:sp>
    </p:spTree>
    <p:extLst>
      <p:ext uri="{BB962C8B-B14F-4D97-AF65-F5344CB8AC3E}">
        <p14:creationId xmlns:p14="http://schemas.microsoft.com/office/powerpoint/2010/main" val="131677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839604"/>
            <a:ext cx="10515600" cy="4351338"/>
          </a:xfrm>
        </p:spPr>
        <p:txBody>
          <a:bodyPr/>
          <a:lstStyle/>
          <a:p>
            <a:r>
              <a:rPr lang="en-US" dirty="0" err="1"/>
              <a:t>Arduino</a:t>
            </a:r>
            <a:r>
              <a:rPr lang="en-US" dirty="0"/>
              <a:t> analog to digital resolution is 10 bit. (0-1023)</a:t>
            </a:r>
          </a:p>
          <a:p>
            <a:endParaRPr lang="en-US" dirty="0"/>
          </a:p>
          <a:p>
            <a:r>
              <a:rPr lang="en-US" dirty="0"/>
              <a:t>Arduino digital to analog resolution is 8 bit. (0-255)</a:t>
            </a:r>
          </a:p>
        </p:txBody>
      </p:sp>
      <p:sp>
        <p:nvSpPr>
          <p:cNvPr id="4" name="Slide Number Placeholder 3"/>
          <p:cNvSpPr>
            <a:spLocks noGrp="1"/>
          </p:cNvSpPr>
          <p:nvPr>
            <p:ph type="sldNum" sz="quarter" idx="12"/>
          </p:nvPr>
        </p:nvSpPr>
        <p:spPr/>
        <p:txBody>
          <a:bodyPr/>
          <a:lstStyle/>
          <a:p>
            <a:fld id="{EDC71E4A-9E9F-42E1-B77A-6A35EBD048CE}" type="slidenum">
              <a:rPr lang="en-US" smtClean="0"/>
              <a:t>37</a:t>
            </a:fld>
            <a:endParaRPr lang="en-US"/>
          </a:p>
        </p:txBody>
      </p:sp>
    </p:spTree>
    <p:extLst>
      <p:ext uri="{BB962C8B-B14F-4D97-AF65-F5344CB8AC3E}">
        <p14:creationId xmlns:p14="http://schemas.microsoft.com/office/powerpoint/2010/main" val="10437939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C71E4A-9E9F-42E1-B77A-6A35EBD048CE}" type="slidenum">
              <a:rPr lang="en-US" smtClean="0"/>
              <a:t>38</a:t>
            </a:fld>
            <a:endParaRPr lang="en-US"/>
          </a:p>
        </p:txBody>
      </p:sp>
      <p:pic>
        <p:nvPicPr>
          <p:cNvPr id="5" name="Content Placeholder 4" descr="Photocell interface schematic">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981243" y="1639984"/>
            <a:ext cx="2001914" cy="4898928"/>
          </a:xfrm>
          <a:prstGeom prst="rect">
            <a:avLst/>
          </a:prstGeom>
          <a:noFill/>
          <a:ln>
            <a:noFill/>
          </a:ln>
        </p:spPr>
      </p:pic>
      <p:sp>
        <p:nvSpPr>
          <p:cNvPr id="6" name="TextBox 5"/>
          <p:cNvSpPr txBox="1"/>
          <p:nvPr/>
        </p:nvSpPr>
        <p:spPr>
          <a:xfrm>
            <a:off x="1745145" y="1575000"/>
            <a:ext cx="4700518" cy="2062103"/>
          </a:xfrm>
          <a:prstGeom prst="rect">
            <a:avLst/>
          </a:prstGeom>
          <a:noFill/>
        </p:spPr>
        <p:txBody>
          <a:bodyPr wrap="none" rtlCol="0">
            <a:spAutoFit/>
          </a:bodyPr>
          <a:lstStyle/>
          <a:p>
            <a:r>
              <a:rPr lang="en-US" sz="3200" dirty="0"/>
              <a:t>R1 = 5.6 </a:t>
            </a:r>
            <a:r>
              <a:rPr lang="en-US" sz="3200" dirty="0" err="1"/>
              <a:t>Kohm</a:t>
            </a:r>
            <a:endParaRPr lang="en-US" sz="3200" dirty="0"/>
          </a:p>
          <a:p>
            <a:r>
              <a:rPr lang="en-US" sz="3200" dirty="0"/>
              <a:t>V= 5V</a:t>
            </a:r>
          </a:p>
          <a:p>
            <a:r>
              <a:rPr lang="en-US" sz="3200" dirty="0"/>
              <a:t>V(out) = 2.78 V</a:t>
            </a:r>
          </a:p>
          <a:p>
            <a:r>
              <a:rPr lang="en-US" sz="3200" dirty="0"/>
              <a:t>Calculate the value of R2=?</a:t>
            </a:r>
          </a:p>
        </p:txBody>
      </p:sp>
      <p:sp>
        <p:nvSpPr>
          <p:cNvPr id="7" name="Title 1"/>
          <p:cNvSpPr>
            <a:spLocks noGrp="1"/>
          </p:cNvSpPr>
          <p:nvPr>
            <p:ph type="title"/>
          </p:nvPr>
        </p:nvSpPr>
        <p:spPr>
          <a:xfrm>
            <a:off x="467557" y="341287"/>
            <a:ext cx="10515600" cy="576571"/>
          </a:xfrm>
        </p:spPr>
        <p:txBody>
          <a:bodyPr>
            <a:normAutofit fontScale="90000"/>
          </a:bodyPr>
          <a:lstStyle/>
          <a:p>
            <a:r>
              <a:rPr lang="en-US" dirty="0"/>
              <a:t>Problem</a:t>
            </a:r>
          </a:p>
        </p:txBody>
      </p:sp>
    </p:spTree>
    <p:extLst>
      <p:ext uri="{BB962C8B-B14F-4D97-AF65-F5344CB8AC3E}">
        <p14:creationId xmlns:p14="http://schemas.microsoft.com/office/powerpoint/2010/main" val="23574973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3483" y="365314"/>
            <a:ext cx="11185477" cy="5991035"/>
          </a:xfrm>
        </p:spPr>
        <p:txBody>
          <a:bodyPr/>
          <a:lstStyle/>
          <a:p>
            <a:pPr marL="0" indent="0">
              <a:buNone/>
            </a:pPr>
            <a:r>
              <a:rPr lang="en-GB" sz="4000" u="sng" dirty="0"/>
              <a:t>Reference</a:t>
            </a:r>
          </a:p>
          <a:p>
            <a:pPr marL="0" indent="0">
              <a:buNone/>
            </a:pPr>
            <a:r>
              <a:rPr lang="en-GB" u="sng" dirty="0"/>
              <a:t>Voltage Divider Network</a:t>
            </a:r>
            <a:endParaRPr lang="en-US" dirty="0"/>
          </a:p>
          <a:p>
            <a:pPr marL="0" indent="0">
              <a:buNone/>
            </a:pPr>
            <a:r>
              <a:rPr lang="en-GB" dirty="0"/>
              <a:t>The </a:t>
            </a:r>
            <a:r>
              <a:rPr lang="en-GB" b="1" dirty="0"/>
              <a:t>Voltage Division Rule</a:t>
            </a:r>
            <a:r>
              <a:rPr lang="en-GB" dirty="0"/>
              <a:t>, allows us to use the effects of resistance proportionality to calculate the potential difference across each resistance regardless of the current flowing through the series circuit. A typical “voltage divider circuit” is shown below.</a:t>
            </a:r>
            <a:endParaRPr lang="en-US" dirty="0"/>
          </a:p>
          <a:p>
            <a:endParaRPr lang="en-US" dirty="0"/>
          </a:p>
        </p:txBody>
      </p:sp>
      <p:sp>
        <p:nvSpPr>
          <p:cNvPr id="4" name="Slide Number Placeholder 3"/>
          <p:cNvSpPr>
            <a:spLocks noGrp="1"/>
          </p:cNvSpPr>
          <p:nvPr>
            <p:ph type="sldNum" sz="quarter" idx="12"/>
          </p:nvPr>
        </p:nvSpPr>
        <p:spPr/>
        <p:txBody>
          <a:bodyPr/>
          <a:lstStyle/>
          <a:p>
            <a:fld id="{EDC71E4A-9E9F-42E1-B77A-6A35EBD048CE}" type="slidenum">
              <a:rPr lang="en-US" smtClean="0"/>
              <a:t>39</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3517" y="3098511"/>
            <a:ext cx="4695553" cy="3622964"/>
          </a:xfrm>
          <a:prstGeom prst="rect">
            <a:avLst/>
          </a:prstGeom>
        </p:spPr>
      </p:pic>
    </p:spTree>
    <p:extLst>
      <p:ext uri="{BB962C8B-B14F-4D97-AF65-F5344CB8AC3E}">
        <p14:creationId xmlns:p14="http://schemas.microsoft.com/office/powerpoint/2010/main" val="2380858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2BC89-14CC-9B12-30E8-075CB7AFCF89}"/>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2" name="Slide Number Placeholder 1">
            <a:extLst>
              <a:ext uri="{FF2B5EF4-FFF2-40B4-BE49-F238E27FC236}">
                <a16:creationId xmlns:a16="http://schemas.microsoft.com/office/drawing/2014/main" id="{7CB5D544-A4CC-6C9B-BB9D-C27CBF664242}"/>
              </a:ext>
            </a:extLst>
          </p:cNvPr>
          <p:cNvSpPr>
            <a:spLocks noGrp="1"/>
          </p:cNvSpPr>
          <p:nvPr>
            <p:ph type="sldNum" sz="quarter" idx="12"/>
          </p:nvPr>
        </p:nvSpPr>
        <p:spPr/>
        <p:txBody>
          <a:bodyPr/>
          <a:lstStyle/>
          <a:p>
            <a:fld id="{EDC71E4A-9E9F-42E1-B77A-6A35EBD048CE}" type="slidenum">
              <a:rPr lang="en-US" smtClean="0"/>
              <a:t>40</a:t>
            </a:fld>
            <a:endParaRPr lang="en-US"/>
          </a:p>
        </p:txBody>
      </p:sp>
    </p:spTree>
    <p:extLst>
      <p:ext uri="{BB962C8B-B14F-4D97-AF65-F5344CB8AC3E}">
        <p14:creationId xmlns:p14="http://schemas.microsoft.com/office/powerpoint/2010/main" val="1329743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912</TotalTime>
  <Words>1616</Words>
  <Application>Microsoft Office PowerPoint</Application>
  <PresentationFormat>Widescreen</PresentationFormat>
  <Paragraphs>194</Paragraphs>
  <Slides>40</Slides>
  <Notes>3</Notes>
  <HiddenSlides>0</HiddenSlides>
  <MMClips>4</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Calibri Light</vt:lpstr>
      <vt:lpstr>Cambria Math</vt:lpstr>
      <vt:lpstr>Levenim MT</vt:lpstr>
      <vt:lpstr>Levму</vt:lpstr>
      <vt:lpstr>Times New Roman</vt:lpstr>
      <vt:lpstr>Wingdings</vt:lpstr>
      <vt:lpstr>Office Theme</vt:lpstr>
      <vt:lpstr>PowerPoint Presentation</vt:lpstr>
      <vt:lpstr>How to interface sensor with Microcontroller</vt:lpstr>
      <vt:lpstr>Types of Sensors</vt:lpstr>
      <vt:lpstr>Analog Sensors</vt:lpstr>
      <vt:lpstr>Analog Sensors</vt:lpstr>
      <vt:lpstr>Digital Sensors</vt:lpstr>
      <vt:lpstr>PowerPoint Presentation</vt:lpstr>
      <vt:lpstr>Digital Sensors</vt:lpstr>
      <vt:lpstr>LDR</vt:lpstr>
      <vt:lpstr>LDR</vt:lpstr>
      <vt:lpstr>Variable Resistor R2 value change</vt:lpstr>
      <vt:lpstr>PowerPoint Presentation</vt:lpstr>
      <vt:lpstr>PowerPoint Presentation</vt:lpstr>
      <vt:lpstr>Analog-to-digital converter (ADC)  </vt:lpstr>
      <vt:lpstr>Pulse-code modulation (PCM)</vt:lpstr>
      <vt:lpstr>Pulse-code modulation (PCM)</vt:lpstr>
      <vt:lpstr>A. Sampling </vt:lpstr>
      <vt:lpstr>B. Quantization (1)</vt:lpstr>
      <vt:lpstr>B. Quantization (2)</vt:lpstr>
      <vt:lpstr>2-bit resolution with four levels of quantization</vt:lpstr>
      <vt:lpstr>PowerPoint Presentation</vt:lpstr>
      <vt:lpstr>C. Encoding</vt:lpstr>
      <vt:lpstr>PowerPoint Presentation</vt:lpstr>
      <vt:lpstr>PowerPoint Presentation</vt:lpstr>
      <vt:lpstr>Analog to digital conversion</vt:lpstr>
      <vt:lpstr>Analog to digital conversion</vt:lpstr>
      <vt:lpstr>Relating ADC Value to Voltage</vt:lpstr>
      <vt:lpstr>Question</vt:lpstr>
      <vt:lpstr>Relating ADC Value to Voltage</vt:lpstr>
      <vt:lpstr>Digital-to-analog converter (DAC)</vt:lpstr>
      <vt:lpstr>Digital to analog</vt:lpstr>
      <vt:lpstr>Duty Cycle</vt:lpstr>
      <vt:lpstr>Digital to analog</vt:lpstr>
      <vt:lpstr>Digital to analog</vt:lpstr>
      <vt:lpstr>PowerPoint Presentation</vt:lpstr>
      <vt:lpstr>PowerPoint Presentation</vt:lpstr>
      <vt:lpstr>PowerPoint Presentation</vt:lpstr>
      <vt:lpstr>Problem</vt:lpstr>
      <vt:lpstr>PowerPoint Presentation</vt:lpstr>
      <vt:lpstr>Thank You</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to digital &amp; Digital to analog</dc:title>
  <dc:creator>Microsoft</dc:creator>
  <cp:lastModifiedBy>Shafqat Rakin</cp:lastModifiedBy>
  <cp:revision>237</cp:revision>
  <dcterms:created xsi:type="dcterms:W3CDTF">2016-08-06T18:53:55Z</dcterms:created>
  <dcterms:modified xsi:type="dcterms:W3CDTF">2024-05-12T15:46:13Z</dcterms:modified>
</cp:coreProperties>
</file>